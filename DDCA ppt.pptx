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topic and the goal: converting four Gray-code input bits into the equivalent ordinary binary output. Explain that this is a combinational logic project built from XOR gates. The slide assignments are balanced across four presenters, three slides each.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all four team members and assign the speaking sections. Presenter 1 handles slides 1–3; presenter 2 handles 4–6; presenter 3 handles 7–9; presenter 4 handles 10–12. Replace each name placeholder before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the transition between decimal 3 and decimal 4. Binary changes from 011 to 100, so all three bits change. Gray code changes from 010 to 110, only one bit. If a sensor samples during a transition, fewer changing bits can reduce the chance of reading a misleading intermediate value. Gray code is especially useful in position sensing.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Binary and Gray code represent the same integer sequence, but their bit patterns are different. In the first few values, binary counts in the familiar way. Gray code changes only one bit between successive values: 000, 001, 011, 010. This property distinguishes Gray code and motivates the converter.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project objective and input/output boundary. The input is four Gray bits and the output is four binary bits. The process is combinational: there is no clock, memory, or stored previous value. Only the currently applied input pattern determines the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main components and goals of the project. Each input and output pin carries one bit. Three two-input XOR gates implement the conversion. The goal is not only to assemble the circuit, but also to explain why the equations work and verify the results with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recurrence. The most significant bit is copied directly: B3 equals G3. Then each lower binary bit is computed by XORing the previous binary result with the Gray bit at that position. XOR outputs 1 when inputs differ and 0 when they match. This makes the computation cumulative from left to right.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 the input 1101 one bit at a time. B3 is copied from G3, giving 1. For B2, calculate 1 XOR 1, which gives 0. For B1, calculate 0 XOR 0, giving 0. For B0, calculate 0 XOR 1, giving 1. The binary output is 1001. Emphasize that every step uses the previous binary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pattern behind the equations. B3 establishes the starting binary state. Every Gray bit tells us whether the binary state should toggle, which is exactly what XOR expresses. Each newly calculated binary bit becomes the reference for the next stage. The design is small and combinational, so it has no clock or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common example is a rotary encoder on a motor shaft or control knob. As the shaft turns, the sensor reports position in Gray code. Because adjacent positions change one bit at a time, transitions are less likely to produce an ambiguous reading. The converter then supplies ordinary binary position data to a controller.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the key ideas: Gray code limits adjacent changes to one bit; the converter reconstructs binary through a direct most-significant-bit connection and a cascade of XOR operations; and this conversion is useful in position systems. Invite the class to explain why XOR is a natural operation for detecting whether a bit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class and invite questions. Presenter 4 can close by returning to the real-world purpose: Gray code helps reduce ambiguous transitions in position sensing, and the converter turns those readings into binary for further processing.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0E3E5EB-E9C9-4D21-9B97-6E3EEB99390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6DF1CA26-C7B0-48C6-AE8B-8B9D00B9206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61E625C-6543-4E05-A8F4-909DB403B7E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0AA81B0-D765-41CD-AFA8-1853FACADF8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4CF0BFE-9B70-405E-BB82-DAC9084C3B7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22F71FC-6974-4B60-BBB6-A950A0BF61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E4DAA5D-4939-4E92-8501-60AC23D588A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B8758DB-2925-4985-A35B-60EAE863603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D22494B-F48F-4D94-B78E-138388F0479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3CA87DD-DE37-421E-8CBC-484B0A7A8C0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36057E5-8DCF-46E9-82F4-ADAF378413DB}"/>
              </a:ext>
            </a:extLst>
          </p:cNvPr>
          <p:cNvSpPr>
            <a:spLocks noGrp="1"/>
          </p:cNvSpPr>
          <p:nvPr/>
        </p:nvSpPr>
        <p:spPr>
          <a:xfrm>
            <a:off x="0" y="0"/>
            <a:ext cx="190500" cy="6858000"/>
          </a:xfrm>
          <a:prstGeom prst="rect">
            <a:avLst/>
          </a:prstGeom>
          <a:solidFill>
            <a:srgbClr val="F2A65A"/>
          </a:solidFill>
          <a:ln w="0">
            <a:noFill/>
            <a:prstDash val="solid"/>
          </a:ln>
        </p:spPr>
      </p:sp>
      <p:sp>
        <p:nvSpPr>
          <p:cNvPr id="2" name="Rectangle: Rounded Corners 1">
            <a:extLst>
              <a:ext uri="{FF2B5EF4-FFF2-40B4-BE49-F238E27FC236}">
                <a16:creationId xmlns:a16="http://schemas.microsoft.com/office/drawing/2014/main" id="{26CC4E3E-8403-4299-A02E-205E39386E5C}"/>
              </a:ext>
            </a:extLst>
          </p:cNvPr>
          <p:cNvSpPr>
            <a:spLocks noGrp="1"/>
          </p:cNvSpPr>
          <p:nvPr/>
        </p:nvSpPr>
        <p:spPr>
          <a:xfrm>
            <a:off x="704850" y="647700"/>
            <a:ext cx="2857500" cy="323850"/>
          </a:xfrm>
          <a:prstGeom prst="roundRect">
            <a:avLst>
              <a:gd name="adj" fmla="val 23529"/>
            </a:avLst>
          </a:prstGeom>
          <a:solidFill>
            <a:srgbClr val="0E7C86"/>
          </a:solidFill>
          <a:ln w="0">
            <a:noFill/>
            <a:prstDash val="solid"/>
          </a:ln>
        </p:spPr>
      </p:sp>
      <p:sp>
        <p:nvSpPr>
          <p:cNvPr id="3" name="Rectangle 2">
            <a:extLst>
              <a:ext uri="{FF2B5EF4-FFF2-40B4-BE49-F238E27FC236}">
                <a16:creationId xmlns:a16="http://schemas.microsoft.com/office/drawing/2014/main" id="{0ADAEDEF-7AE7-430D-8F0B-097694306E52}"/>
              </a:ext>
            </a:extLst>
          </p:cNvPr>
          <p:cNvSpPr>
            <a:spLocks noGrp="1"/>
          </p:cNvSpPr>
          <p:nvPr/>
        </p:nvSpPr>
        <p:spPr>
          <a:xfrm>
            <a:off x="790575" y="666750"/>
            <a:ext cx="2686050" cy="285750"/>
          </a:xfrm>
          <a:prstGeom prst="rect">
            <a:avLst/>
          </a:prstGeom>
          <a:noFill/>
          <a:ln w="0">
            <a:noFill/>
            <a:prstDash val="solid"/>
          </a:ln>
        </p:spPr>
        <p:txBody>
          <a:bodyPr anchor="ctr"/>
          <a:lstStyle>
            <a:defPPr algn="ctr">
              <a:defRPr sz="1125" b="1">
                <a:solidFill>
                  <a:srgbClr val="FFFFFF"/>
                </a:solidFill>
              </a:defRPr>
            </a:defPPr>
          </a:lstStyle>
          <a:p>
            <a:pPr algn="ctr">
              <a:defRPr sz="1125" b="1">
                <a:solidFill>
                  <a:srgbClr val="FFFFFF"/>
                </a:solidFill>
              </a:defRPr>
            </a:pPr>
            <a:r>
              <a:rPr sz="1125" b="1">
                <a:solidFill>
                  <a:srgbClr val="FFFFFF"/>
                </a:solidFill>
              </a:rPr>
              <a:t>DDCA  •  DESIGN &amp; SIMULATION</a:t>
            </a:r>
          </a:p>
        </p:txBody>
      </p:sp>
      <p:sp>
        <p:nvSpPr>
          <p:cNvPr id="4" name="Rectangle 3">
            <a:extLst>
              <a:ext uri="{FF2B5EF4-FFF2-40B4-BE49-F238E27FC236}">
                <a16:creationId xmlns:a16="http://schemas.microsoft.com/office/drawing/2014/main" id="{565ACD8F-4F7D-4F53-A81E-4BA870DCE408}"/>
              </a:ext>
            </a:extLst>
          </p:cNvPr>
          <p:cNvSpPr>
            <a:spLocks noGrp="1"/>
          </p:cNvSpPr>
          <p:nvPr/>
        </p:nvSpPr>
        <p:spPr>
          <a:xfrm>
            <a:off x="704850" y="1581150"/>
            <a:ext cx="6381750" cy="1752600"/>
          </a:xfrm>
          <a:prstGeom prst="rect">
            <a:avLst/>
          </a:prstGeom>
          <a:noFill/>
          <a:ln w="0">
            <a:noFill/>
            <a:prstDash val="solid"/>
          </a:ln>
        </p:spPr>
        <p:txBody>
          <a:bodyPr anchor="ctr"/>
          <a:lstStyle>
            <a:defPPr algn="l">
              <a:defRPr sz="4800" b="1">
                <a:solidFill>
                  <a:srgbClr val="FFFFFF"/>
                </a:solidFill>
              </a:defRPr>
            </a:defPPr>
          </a:lstStyle>
          <a:p>
            <a:pPr algn="l">
              <a:defRPr sz="4800" b="1">
                <a:solidFill>
                  <a:srgbClr val="FFFFFF"/>
                </a:solidFill>
              </a:defRPr>
            </a:pPr>
            <a:r>
              <a:rPr sz="4800" b="1">
                <a:solidFill>
                  <a:srgbClr val="FFFFFF"/>
                </a:solidFill>
              </a:rPr>
              <a:t>GRAY CODE</a:t>
            </a:r>
          </a:p>
          <a:p>
            <a:pPr algn="l">
              <a:defRPr sz="4800" b="1">
                <a:solidFill>
                  <a:srgbClr val="FFFFFF"/>
                </a:solidFill>
              </a:defRPr>
            </a:pPr>
            <a:r>
              <a:rPr sz="4800" b="1">
                <a:solidFill>
                  <a:srgbClr val="FFFFFF"/>
                </a:solidFill>
              </a:rPr>
              <a:t>TO BINARY</a:t>
            </a:r>
          </a:p>
        </p:txBody>
      </p:sp>
      <p:sp>
        <p:nvSpPr>
          <p:cNvPr id="5" name="Rectangle 4">
            <a:extLst>
              <a:ext uri="{FF2B5EF4-FFF2-40B4-BE49-F238E27FC236}">
                <a16:creationId xmlns:a16="http://schemas.microsoft.com/office/drawing/2014/main" id="{174A9CB8-D345-46D8-86D7-22A28638B5EF}"/>
              </a:ext>
            </a:extLst>
          </p:cNvPr>
          <p:cNvSpPr>
            <a:spLocks noGrp="1"/>
          </p:cNvSpPr>
          <p:nvPr/>
        </p:nvSpPr>
        <p:spPr>
          <a:xfrm>
            <a:off x="762000" y="3562350"/>
            <a:ext cx="6667500" cy="704850"/>
          </a:xfrm>
          <a:prstGeom prst="rect">
            <a:avLst/>
          </a:prstGeom>
          <a:noFill/>
          <a:ln w="0">
            <a:noFill/>
            <a:prstDash val="solid"/>
          </a:ln>
        </p:spPr>
        <p:txBody>
          <a:bodyPr anchor="ctr"/>
          <a:lstStyle>
            <a:defPPr algn="l">
              <a:defRPr sz="1875" b="0">
                <a:solidFill>
                  <a:srgbClr val="BDE5E1"/>
                </a:solidFill>
              </a:defRPr>
            </a:defPPr>
          </a:lstStyle>
          <a:p>
            <a:pPr algn="l">
              <a:defRPr sz="1875" b="0">
                <a:solidFill>
                  <a:srgbClr val="BDE5E1"/>
                </a:solidFill>
              </a:defRPr>
            </a:pPr>
            <a:r>
              <a:rPr sz="1875" b="0">
                <a:solidFill>
                  <a:srgbClr val="BDE5E1"/>
                </a:solidFill>
              </a:rPr>
              <a:t>A 4-bit combinational converter using cascaded XOR logic</a:t>
            </a:r>
          </a:p>
        </p:txBody>
      </p:sp>
      <p:sp>
        <p:nvSpPr>
          <p:cNvPr id="6" name="Rectangle: Rounded Corners 5">
            <a:extLst>
              <a:ext uri="{FF2B5EF4-FFF2-40B4-BE49-F238E27FC236}">
                <a16:creationId xmlns:a16="http://schemas.microsoft.com/office/drawing/2014/main" id="{8F4F4203-9000-4F05-93FC-3B64C14D897D}"/>
              </a:ext>
            </a:extLst>
          </p:cNvPr>
          <p:cNvSpPr>
            <a:spLocks noGrp="1"/>
          </p:cNvSpPr>
          <p:nvPr/>
        </p:nvSpPr>
        <p:spPr>
          <a:xfrm>
            <a:off x="7791450" y="2143125"/>
            <a:ext cx="647700" cy="781050"/>
          </a:xfrm>
          <a:prstGeom prst="roundRect">
            <a:avLst>
              <a:gd name="adj" fmla="val 11765"/>
            </a:avLst>
          </a:prstGeom>
          <a:solidFill>
            <a:srgbClr val="1D3A4D"/>
          </a:solidFill>
          <a:ln w="19050">
            <a:solidFill>
              <a:srgbClr val="BDE5E1"/>
            </a:solidFill>
            <a:prstDash val="solid"/>
          </a:ln>
        </p:spPr>
      </p:sp>
      <p:sp>
        <p:nvSpPr>
          <p:cNvPr id="7" name="Rectangle 6">
            <a:extLst>
              <a:ext uri="{FF2B5EF4-FFF2-40B4-BE49-F238E27FC236}">
                <a16:creationId xmlns:a16="http://schemas.microsoft.com/office/drawing/2014/main" id="{886D66B7-B435-4027-A765-7AA26DE8A0C6}"/>
              </a:ext>
            </a:extLst>
          </p:cNvPr>
          <p:cNvSpPr>
            <a:spLocks noGrp="1"/>
          </p:cNvSpPr>
          <p:nvPr/>
        </p:nvSpPr>
        <p:spPr>
          <a:xfrm>
            <a:off x="781050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G3</a:t>
            </a:r>
          </a:p>
        </p:txBody>
      </p:sp>
      <p:sp>
        <p:nvSpPr>
          <p:cNvPr id="8" name="Rectangle 7">
            <a:extLst>
              <a:ext uri="{FF2B5EF4-FFF2-40B4-BE49-F238E27FC236}">
                <a16:creationId xmlns:a16="http://schemas.microsoft.com/office/drawing/2014/main" id="{7845568F-CEBC-4EEE-AF6E-39A92E0911F9}"/>
              </a:ext>
            </a:extLst>
          </p:cNvPr>
          <p:cNvSpPr>
            <a:spLocks noGrp="1"/>
          </p:cNvSpPr>
          <p:nvPr/>
        </p:nvSpPr>
        <p:spPr>
          <a:xfrm>
            <a:off x="779145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1</a:t>
            </a:r>
          </a:p>
        </p:txBody>
      </p:sp>
      <p:sp>
        <p:nvSpPr>
          <p:cNvPr id="9" name="Rectangle: Rounded Corners 8">
            <a:extLst>
              <a:ext uri="{FF2B5EF4-FFF2-40B4-BE49-F238E27FC236}">
                <a16:creationId xmlns:a16="http://schemas.microsoft.com/office/drawing/2014/main" id="{51F77CD5-4871-484F-8002-837526F5D7A7}"/>
              </a:ext>
            </a:extLst>
          </p:cNvPr>
          <p:cNvSpPr>
            <a:spLocks noGrp="1"/>
          </p:cNvSpPr>
          <p:nvPr/>
        </p:nvSpPr>
        <p:spPr>
          <a:xfrm>
            <a:off x="8610600" y="2143125"/>
            <a:ext cx="647700" cy="781050"/>
          </a:xfrm>
          <a:prstGeom prst="roundRect">
            <a:avLst>
              <a:gd name="adj" fmla="val 11765"/>
            </a:avLst>
          </a:prstGeom>
          <a:solidFill>
            <a:srgbClr val="1D3A4D"/>
          </a:solidFill>
          <a:ln w="19050">
            <a:solidFill>
              <a:srgbClr val="BDE5E1"/>
            </a:solidFill>
            <a:prstDash val="solid"/>
          </a:ln>
        </p:spPr>
      </p:sp>
      <p:sp>
        <p:nvSpPr>
          <p:cNvPr id="10" name="Rectangle 9">
            <a:extLst>
              <a:ext uri="{FF2B5EF4-FFF2-40B4-BE49-F238E27FC236}">
                <a16:creationId xmlns:a16="http://schemas.microsoft.com/office/drawing/2014/main" id="{C0D8C444-CBB1-467B-BB17-CACF83F41560}"/>
              </a:ext>
            </a:extLst>
          </p:cNvPr>
          <p:cNvSpPr>
            <a:spLocks noGrp="1"/>
          </p:cNvSpPr>
          <p:nvPr/>
        </p:nvSpPr>
        <p:spPr>
          <a:xfrm>
            <a:off x="862965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G2</a:t>
            </a:r>
          </a:p>
        </p:txBody>
      </p:sp>
      <p:sp>
        <p:nvSpPr>
          <p:cNvPr id="11" name="Rectangle 10">
            <a:extLst>
              <a:ext uri="{FF2B5EF4-FFF2-40B4-BE49-F238E27FC236}">
                <a16:creationId xmlns:a16="http://schemas.microsoft.com/office/drawing/2014/main" id="{4A057CC4-0F16-41EE-83A2-0A9B982EF36B}"/>
              </a:ext>
            </a:extLst>
          </p:cNvPr>
          <p:cNvSpPr>
            <a:spLocks noGrp="1"/>
          </p:cNvSpPr>
          <p:nvPr/>
        </p:nvSpPr>
        <p:spPr>
          <a:xfrm>
            <a:off x="861060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1</a:t>
            </a:r>
          </a:p>
        </p:txBody>
      </p:sp>
      <p:sp>
        <p:nvSpPr>
          <p:cNvPr id="12" name="Rectangle: Rounded Corners 11">
            <a:extLst>
              <a:ext uri="{FF2B5EF4-FFF2-40B4-BE49-F238E27FC236}">
                <a16:creationId xmlns:a16="http://schemas.microsoft.com/office/drawing/2014/main" id="{4CFD26B2-C7C7-49AD-BCC4-587627B344A3}"/>
              </a:ext>
            </a:extLst>
          </p:cNvPr>
          <p:cNvSpPr>
            <a:spLocks noGrp="1"/>
          </p:cNvSpPr>
          <p:nvPr/>
        </p:nvSpPr>
        <p:spPr>
          <a:xfrm>
            <a:off x="9429750" y="2143125"/>
            <a:ext cx="647700" cy="781050"/>
          </a:xfrm>
          <a:prstGeom prst="roundRect">
            <a:avLst>
              <a:gd name="adj" fmla="val 11765"/>
            </a:avLst>
          </a:prstGeom>
          <a:solidFill>
            <a:srgbClr val="1D3A4D"/>
          </a:solidFill>
          <a:ln w="19050">
            <a:solidFill>
              <a:srgbClr val="BDE5E1"/>
            </a:solidFill>
            <a:prstDash val="solid"/>
          </a:ln>
        </p:spPr>
      </p:sp>
      <p:sp>
        <p:nvSpPr>
          <p:cNvPr id="13" name="Rectangle 12">
            <a:extLst>
              <a:ext uri="{FF2B5EF4-FFF2-40B4-BE49-F238E27FC236}">
                <a16:creationId xmlns:a16="http://schemas.microsoft.com/office/drawing/2014/main" id="{27D349DE-CEC8-42F7-AE31-B71AF6AE9A6E}"/>
              </a:ext>
            </a:extLst>
          </p:cNvPr>
          <p:cNvSpPr>
            <a:spLocks noGrp="1"/>
          </p:cNvSpPr>
          <p:nvPr/>
        </p:nvSpPr>
        <p:spPr>
          <a:xfrm>
            <a:off x="944880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G1</a:t>
            </a:r>
          </a:p>
        </p:txBody>
      </p:sp>
      <p:sp>
        <p:nvSpPr>
          <p:cNvPr id="14" name="Rectangle 13">
            <a:extLst>
              <a:ext uri="{FF2B5EF4-FFF2-40B4-BE49-F238E27FC236}">
                <a16:creationId xmlns:a16="http://schemas.microsoft.com/office/drawing/2014/main" id="{344C331A-6451-420F-B54E-A12342A2A2A0}"/>
              </a:ext>
            </a:extLst>
          </p:cNvPr>
          <p:cNvSpPr>
            <a:spLocks noGrp="1"/>
          </p:cNvSpPr>
          <p:nvPr/>
        </p:nvSpPr>
        <p:spPr>
          <a:xfrm>
            <a:off x="942975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0</a:t>
            </a:r>
          </a:p>
        </p:txBody>
      </p:sp>
      <p:sp>
        <p:nvSpPr>
          <p:cNvPr id="15" name="Rectangle: Rounded Corners 14">
            <a:extLst>
              <a:ext uri="{FF2B5EF4-FFF2-40B4-BE49-F238E27FC236}">
                <a16:creationId xmlns:a16="http://schemas.microsoft.com/office/drawing/2014/main" id="{11FBC550-CDE9-4215-9C0B-03C9AB607882}"/>
              </a:ext>
            </a:extLst>
          </p:cNvPr>
          <p:cNvSpPr>
            <a:spLocks noGrp="1"/>
          </p:cNvSpPr>
          <p:nvPr/>
        </p:nvSpPr>
        <p:spPr>
          <a:xfrm>
            <a:off x="10248900" y="2143125"/>
            <a:ext cx="647700" cy="781050"/>
          </a:xfrm>
          <a:prstGeom prst="roundRect">
            <a:avLst>
              <a:gd name="adj" fmla="val 11765"/>
            </a:avLst>
          </a:prstGeom>
          <a:solidFill>
            <a:srgbClr val="1D3A4D"/>
          </a:solidFill>
          <a:ln w="19050">
            <a:solidFill>
              <a:srgbClr val="BDE5E1"/>
            </a:solidFill>
            <a:prstDash val="solid"/>
          </a:ln>
        </p:spPr>
      </p:sp>
      <p:sp>
        <p:nvSpPr>
          <p:cNvPr id="16" name="Rectangle 15">
            <a:extLst>
              <a:ext uri="{FF2B5EF4-FFF2-40B4-BE49-F238E27FC236}">
                <a16:creationId xmlns:a16="http://schemas.microsoft.com/office/drawing/2014/main" id="{AF121085-E0D2-49D2-898D-FB503ED6DC9F}"/>
              </a:ext>
            </a:extLst>
          </p:cNvPr>
          <p:cNvSpPr>
            <a:spLocks noGrp="1"/>
          </p:cNvSpPr>
          <p:nvPr/>
        </p:nvSpPr>
        <p:spPr>
          <a:xfrm>
            <a:off x="10267950" y="1695450"/>
            <a:ext cx="619125" cy="323850"/>
          </a:xfrm>
          <a:prstGeom prst="rect">
            <a:avLst/>
          </a:prstGeom>
          <a:noFill/>
          <a:ln w="0">
            <a:noFill/>
            <a:prstDash val="solid"/>
          </a:ln>
        </p:spPr>
        <p:txBody>
          <a:bodyPr anchor="ctr"/>
          <a:lstStyle>
            <a:defPPr algn="ctr">
              <a:defRPr sz="1425" b="1">
                <a:solidFill>
                  <a:srgbClr val="BDE5E1"/>
                </a:solidFill>
              </a:defRPr>
            </a:defPPr>
          </a:lstStyle>
          <a:p>
            <a:pPr algn="ctr">
              <a:defRPr sz="1425" b="1">
                <a:solidFill>
                  <a:srgbClr val="BDE5E1"/>
                </a:solidFill>
              </a:defRPr>
            </a:pPr>
            <a:r>
              <a:rPr sz="1425" b="1">
                <a:solidFill>
                  <a:srgbClr val="BDE5E1"/>
                </a:solidFill>
              </a:rPr>
              <a:t>G0</a:t>
            </a:r>
          </a:p>
        </p:txBody>
      </p:sp>
      <p:sp>
        <p:nvSpPr>
          <p:cNvPr id="17" name="Rectangle 16">
            <a:extLst>
              <a:ext uri="{FF2B5EF4-FFF2-40B4-BE49-F238E27FC236}">
                <a16:creationId xmlns:a16="http://schemas.microsoft.com/office/drawing/2014/main" id="{03114415-E402-46F8-8918-CB6CEE3D7C00}"/>
              </a:ext>
            </a:extLst>
          </p:cNvPr>
          <p:cNvSpPr>
            <a:spLocks noGrp="1"/>
          </p:cNvSpPr>
          <p:nvPr/>
        </p:nvSpPr>
        <p:spPr>
          <a:xfrm>
            <a:off x="10248900" y="2247900"/>
            <a:ext cx="647700" cy="514350"/>
          </a:xfrm>
          <a:prstGeom prst="rect">
            <a:avLst/>
          </a:prstGeom>
          <a:noFill/>
          <a:ln w="0">
            <a:noFill/>
            <a:prstDash val="solid"/>
          </a:ln>
        </p:spPr>
        <p:txBody>
          <a:bodyPr anchor="ctr"/>
          <a:lstStyle>
            <a:defPPr algn="ctr">
              <a:defRPr sz="2325" b="1">
                <a:solidFill>
                  <a:srgbClr val="FFFFFF"/>
                </a:solidFill>
              </a:defRPr>
            </a:defPPr>
          </a:lstStyle>
          <a:p>
            <a:pPr algn="ctr">
              <a:defRPr sz="2325" b="1">
                <a:solidFill>
                  <a:srgbClr val="FFFFFF"/>
                </a:solidFill>
              </a:defRPr>
            </a:pPr>
            <a:r>
              <a:rPr sz="2325" b="1">
                <a:solidFill>
                  <a:srgbClr val="FFFFFF"/>
                </a:solidFill>
              </a:rPr>
              <a:t>1</a:t>
            </a:r>
          </a:p>
        </p:txBody>
      </p:sp>
      <p:sp>
        <p:nvSpPr>
          <p:cNvPr id="18" name="Rectangle 17">
            <a:extLst>
              <a:ext uri="{FF2B5EF4-FFF2-40B4-BE49-F238E27FC236}">
                <a16:creationId xmlns:a16="http://schemas.microsoft.com/office/drawing/2014/main" id="{659F00F9-7854-4640-8EBC-00730BDF663F}"/>
              </a:ext>
            </a:extLst>
          </p:cNvPr>
          <p:cNvSpPr>
            <a:spLocks noGrp="1"/>
          </p:cNvSpPr>
          <p:nvPr/>
        </p:nvSpPr>
        <p:spPr>
          <a:xfrm>
            <a:off x="11115675" y="2266950"/>
            <a:ext cx="571500" cy="428625"/>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a:t>
            </a:r>
          </a:p>
        </p:txBody>
      </p:sp>
      <p:sp>
        <p:nvSpPr>
          <p:cNvPr id="19" name="Rectangle 18">
            <a:extLst>
              <a:ext uri="{FF2B5EF4-FFF2-40B4-BE49-F238E27FC236}">
                <a16:creationId xmlns:a16="http://schemas.microsoft.com/office/drawing/2014/main" id="{DC99F7C1-1904-4818-92AF-4FC5E52E16AB}"/>
              </a:ext>
            </a:extLst>
          </p:cNvPr>
          <p:cNvSpPr>
            <a:spLocks noGrp="1"/>
          </p:cNvSpPr>
          <p:nvPr/>
        </p:nvSpPr>
        <p:spPr>
          <a:xfrm>
            <a:off x="7858125" y="3190875"/>
            <a:ext cx="3095625" cy="266700"/>
          </a:xfrm>
          <a:prstGeom prst="rect">
            <a:avLst/>
          </a:prstGeom>
          <a:noFill/>
          <a:ln w="0">
            <a:noFill/>
            <a:prstDash val="solid"/>
          </a:ln>
        </p:spPr>
        <p:txBody>
          <a:bodyPr anchor="ctr"/>
          <a:lstStyle>
            <a:defPPr algn="ctr">
              <a:defRPr sz="1275" b="0">
                <a:solidFill>
                  <a:srgbClr val="BDE5E1"/>
                </a:solidFill>
              </a:defRPr>
            </a:defPPr>
          </a:lstStyle>
          <a:p>
            <a:pPr algn="ctr">
              <a:defRPr sz="1275" b="0">
                <a:solidFill>
                  <a:srgbClr val="BDE5E1"/>
                </a:solidFill>
              </a:defRPr>
            </a:pPr>
            <a:r>
              <a:rPr sz="1275" b="0">
                <a:solidFill>
                  <a:srgbClr val="BDE5E1"/>
                </a:solidFill>
              </a:rPr>
              <a:t>Gray input</a:t>
            </a:r>
          </a:p>
        </p:txBody>
      </p:sp>
    </p:spTree>
    <p:extLst>
      <p:ext uri="{BB962C8B-B14F-4D97-AF65-F5344CB8AC3E}">
        <p14:creationId xmlns:p14="http://schemas.microsoft.com/office/powerpoint/2010/main" val="1658186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B3D6DE4-A749-4767-B20F-593C67526140}"/>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AA5003BA-29B1-4F02-B4B6-D23FD94C7988}"/>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MEET THE TEAM</a:t>
            </a:r>
          </a:p>
        </p:txBody>
      </p:sp>
      <p:sp>
        <p:nvSpPr>
          <p:cNvPr id="3" name="Straight Connector 2">
            <a:extLst>
              <a:ext uri="{FF2B5EF4-FFF2-40B4-BE49-F238E27FC236}">
                <a16:creationId xmlns:a16="http://schemas.microsoft.com/office/drawing/2014/main" id="{09A087A9-1291-4304-A7EE-8C780D5153E8}"/>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5F6F5C7B-06D9-4659-A470-5CAAD60876E6}"/>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0D1BB3F3-40F6-4956-AE86-7912E3A6B183}"/>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1   |   02</a:t>
            </a:r>
          </a:p>
        </p:txBody>
      </p:sp>
      <p:sp>
        <p:nvSpPr>
          <p:cNvPr id="7" name="Rectangle 6">
            <a:extLst>
              <a:ext uri="{FF2B5EF4-FFF2-40B4-BE49-F238E27FC236}">
                <a16:creationId xmlns:a16="http://schemas.microsoft.com/office/drawing/2014/main" id="{F6EE198E-D677-4F3F-ACEF-AC83C9044B36}"/>
              </a:ext>
            </a:extLst>
          </p:cNvPr>
          <p:cNvSpPr>
            <a:spLocks noGrp="1"/>
          </p:cNvSpPr>
          <p:nvPr/>
        </p:nvSpPr>
        <p:spPr>
          <a:xfrm>
            <a:off x="723900" y="1971675"/>
            <a:ext cx="76200" cy="638175"/>
          </a:xfrm>
          <a:prstGeom prst="rect">
            <a:avLst/>
          </a:prstGeom>
          <a:solidFill>
            <a:srgbClr val="0E7C86"/>
          </a:solidFill>
          <a:ln w="0">
            <a:noFill/>
            <a:prstDash val="solid"/>
          </a:ln>
        </p:spPr>
      </p:sp>
      <p:sp>
        <p:nvSpPr>
          <p:cNvPr id="9" name="Rectangle 8">
            <a:extLst>
              <a:ext uri="{FF2B5EF4-FFF2-40B4-BE49-F238E27FC236}">
                <a16:creationId xmlns:a16="http://schemas.microsoft.com/office/drawing/2014/main" id="{04F6EA4F-DE66-430F-9D35-90DBCC090155}"/>
              </a:ext>
            </a:extLst>
          </p:cNvPr>
          <p:cNvSpPr>
            <a:spLocks noGrp="1"/>
          </p:cNvSpPr>
          <p:nvPr/>
        </p:nvSpPr>
        <p:spPr>
          <a:xfrm>
            <a:off x="1000124" y="2028825"/>
            <a:ext cx="5323449"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I. Deekshitha - 2620040021</a:t>
            </a:r>
            <a:endParaRPr sz="2025" b="1" dirty="0">
              <a:solidFill>
                <a:srgbClr val="142B3B"/>
              </a:solidFill>
            </a:endParaRPr>
          </a:p>
        </p:txBody>
      </p:sp>
      <p:sp>
        <p:nvSpPr>
          <p:cNvPr id="10" name="Rectangle 9">
            <a:extLst>
              <a:ext uri="{FF2B5EF4-FFF2-40B4-BE49-F238E27FC236}">
                <a16:creationId xmlns:a16="http://schemas.microsoft.com/office/drawing/2014/main" id="{C59FDF23-2DCD-4689-8727-6B2DAF14136B}"/>
              </a:ext>
            </a:extLst>
          </p:cNvPr>
          <p:cNvSpPr>
            <a:spLocks noGrp="1"/>
          </p:cNvSpPr>
          <p:nvPr/>
        </p:nvSpPr>
        <p:spPr>
          <a:xfrm>
            <a:off x="7524750" y="2095500"/>
            <a:ext cx="3286125" cy="361950"/>
          </a:xfrm>
          <a:prstGeom prst="rect">
            <a:avLst/>
          </a:prstGeom>
          <a:noFill/>
          <a:ln w="0">
            <a:noFill/>
            <a:prstDash val="solid"/>
          </a:ln>
        </p:spPr>
        <p:txBody>
          <a:bodyPr anchor="ctr"/>
          <a:lstStyle>
            <a:defPPr algn="r">
              <a:defRPr sz="1350" b="1">
                <a:solidFill>
                  <a:srgbClr val="0E7C86"/>
                </a:solidFill>
              </a:defRPr>
            </a:defPPr>
          </a:lstStyle>
          <a:p>
            <a:pPr algn="r">
              <a:defRPr sz="1350" b="1">
                <a:solidFill>
                  <a:srgbClr val="0E7C86"/>
                </a:solidFill>
              </a:defRPr>
            </a:pPr>
            <a:endParaRPr sz="1350" b="1" dirty="0">
              <a:solidFill>
                <a:srgbClr val="0E7C86"/>
              </a:solidFill>
            </a:endParaRPr>
          </a:p>
        </p:txBody>
      </p:sp>
      <p:sp>
        <p:nvSpPr>
          <p:cNvPr id="11" name="Straight Connector 10">
            <a:extLst>
              <a:ext uri="{FF2B5EF4-FFF2-40B4-BE49-F238E27FC236}">
                <a16:creationId xmlns:a16="http://schemas.microsoft.com/office/drawing/2014/main" id="{3A8B6EF1-B765-4293-8F81-CB2D9A69A9AE}"/>
              </a:ext>
            </a:extLst>
          </p:cNvPr>
          <p:cNvSpPr>
            <a:spLocks noGrp="1"/>
          </p:cNvSpPr>
          <p:nvPr/>
        </p:nvSpPr>
        <p:spPr>
          <a:xfrm>
            <a:off x="1885950" y="2647950"/>
            <a:ext cx="8924925" cy="0"/>
          </a:xfrm>
          <a:prstGeom prst="line">
            <a:avLst/>
          </a:prstGeom>
          <a:noFill/>
          <a:ln w="9525">
            <a:solidFill>
              <a:srgbClr val="CBD6D8"/>
            </a:solidFill>
            <a:prstDash val="solid"/>
          </a:ln>
        </p:spPr>
      </p:sp>
      <p:sp>
        <p:nvSpPr>
          <p:cNvPr id="12" name="Rectangle 11">
            <a:extLst>
              <a:ext uri="{FF2B5EF4-FFF2-40B4-BE49-F238E27FC236}">
                <a16:creationId xmlns:a16="http://schemas.microsoft.com/office/drawing/2014/main" id="{68BC7969-A532-4317-B130-2CF9CAF37FF4}"/>
              </a:ext>
            </a:extLst>
          </p:cNvPr>
          <p:cNvSpPr>
            <a:spLocks noGrp="1"/>
          </p:cNvSpPr>
          <p:nvPr/>
        </p:nvSpPr>
        <p:spPr>
          <a:xfrm>
            <a:off x="723900" y="2905125"/>
            <a:ext cx="76200" cy="638175"/>
          </a:xfrm>
          <a:prstGeom prst="rect">
            <a:avLst/>
          </a:prstGeom>
          <a:solidFill>
            <a:srgbClr val="F2A65A"/>
          </a:solidFill>
          <a:ln w="0">
            <a:noFill/>
            <a:prstDash val="solid"/>
          </a:ln>
        </p:spPr>
      </p:sp>
      <p:sp>
        <p:nvSpPr>
          <p:cNvPr id="13" name="Rectangle 12">
            <a:extLst>
              <a:ext uri="{FF2B5EF4-FFF2-40B4-BE49-F238E27FC236}">
                <a16:creationId xmlns:a16="http://schemas.microsoft.com/office/drawing/2014/main" id="{B6FA0AA7-4102-4EA6-BEBA-922B486BC7A3}"/>
              </a:ext>
            </a:extLst>
          </p:cNvPr>
          <p:cNvSpPr>
            <a:spLocks noGrp="1"/>
          </p:cNvSpPr>
          <p:nvPr/>
        </p:nvSpPr>
        <p:spPr>
          <a:xfrm>
            <a:off x="1590675" y="2990849"/>
            <a:ext cx="1167618" cy="457200"/>
          </a:xfrm>
          <a:prstGeom prst="rect">
            <a:avLst/>
          </a:prstGeom>
          <a:noFill/>
          <a:ln w="0">
            <a:noFill/>
            <a:prstDash val="solid"/>
          </a:ln>
        </p:spPr>
        <p:txBody>
          <a:bodyPr anchor="ctr"/>
          <a:lstStyle>
            <a:defPPr algn="l">
              <a:defRPr sz="2025" b="1">
                <a:solidFill>
                  <a:srgbClr val="5C707D"/>
                </a:solidFill>
              </a:defRPr>
            </a:defPPr>
          </a:lstStyle>
          <a:p>
            <a:pPr algn="l">
              <a:defRPr sz="2025" b="1">
                <a:solidFill>
                  <a:srgbClr val="5C707D"/>
                </a:solidFill>
              </a:defRPr>
            </a:pPr>
            <a:endParaRPr sz="2025" b="1" dirty="0">
              <a:solidFill>
                <a:srgbClr val="5C707D"/>
              </a:solidFill>
            </a:endParaRPr>
          </a:p>
        </p:txBody>
      </p:sp>
      <p:sp>
        <p:nvSpPr>
          <p:cNvPr id="14" name="Rectangle 13">
            <a:extLst>
              <a:ext uri="{FF2B5EF4-FFF2-40B4-BE49-F238E27FC236}">
                <a16:creationId xmlns:a16="http://schemas.microsoft.com/office/drawing/2014/main" id="{75E8CBA6-4EEB-43F6-8AAA-C400A20974CC}"/>
              </a:ext>
            </a:extLst>
          </p:cNvPr>
          <p:cNvSpPr>
            <a:spLocks noGrp="1"/>
          </p:cNvSpPr>
          <p:nvPr/>
        </p:nvSpPr>
        <p:spPr>
          <a:xfrm>
            <a:off x="1000124" y="2962275"/>
            <a:ext cx="5553076"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S. Kavya - 2620040022</a:t>
            </a:r>
            <a:endParaRPr sz="2025" b="1" dirty="0">
              <a:solidFill>
                <a:srgbClr val="142B3B"/>
              </a:solidFill>
            </a:endParaRPr>
          </a:p>
        </p:txBody>
      </p:sp>
      <p:sp>
        <p:nvSpPr>
          <p:cNvPr id="15" name="Rectangle 14">
            <a:extLst>
              <a:ext uri="{FF2B5EF4-FFF2-40B4-BE49-F238E27FC236}">
                <a16:creationId xmlns:a16="http://schemas.microsoft.com/office/drawing/2014/main" id="{2B0187A3-ABF8-45E3-BFBE-94676D33B053}"/>
              </a:ext>
            </a:extLst>
          </p:cNvPr>
          <p:cNvSpPr>
            <a:spLocks noGrp="1"/>
          </p:cNvSpPr>
          <p:nvPr/>
        </p:nvSpPr>
        <p:spPr>
          <a:xfrm>
            <a:off x="7524750" y="3028950"/>
            <a:ext cx="3286125" cy="361950"/>
          </a:xfrm>
          <a:prstGeom prst="rect">
            <a:avLst/>
          </a:prstGeom>
          <a:noFill/>
          <a:ln w="0">
            <a:noFill/>
            <a:prstDash val="solid"/>
          </a:ln>
        </p:spPr>
        <p:txBody>
          <a:bodyPr anchor="ctr"/>
          <a:lstStyle>
            <a:defPPr algn="r">
              <a:defRPr sz="1350" b="1">
                <a:solidFill>
                  <a:srgbClr val="0E7C86"/>
                </a:solidFill>
              </a:defRPr>
            </a:defPPr>
          </a:lstStyle>
          <a:p>
            <a:pPr algn="r">
              <a:defRPr sz="1350" b="1">
                <a:solidFill>
                  <a:srgbClr val="0E7C86"/>
                </a:solidFill>
              </a:defRPr>
            </a:pPr>
            <a:endParaRPr sz="1350" b="1" dirty="0">
              <a:solidFill>
                <a:srgbClr val="0E7C86"/>
              </a:solidFill>
            </a:endParaRPr>
          </a:p>
        </p:txBody>
      </p:sp>
      <p:sp>
        <p:nvSpPr>
          <p:cNvPr id="16" name="Straight Connector 15">
            <a:extLst>
              <a:ext uri="{FF2B5EF4-FFF2-40B4-BE49-F238E27FC236}">
                <a16:creationId xmlns:a16="http://schemas.microsoft.com/office/drawing/2014/main" id="{8C5026B7-750E-482B-A98F-E8224B91C711}"/>
              </a:ext>
            </a:extLst>
          </p:cNvPr>
          <p:cNvSpPr>
            <a:spLocks noGrp="1"/>
          </p:cNvSpPr>
          <p:nvPr/>
        </p:nvSpPr>
        <p:spPr>
          <a:xfrm>
            <a:off x="1885950" y="3581400"/>
            <a:ext cx="8924925" cy="0"/>
          </a:xfrm>
          <a:prstGeom prst="line">
            <a:avLst/>
          </a:prstGeom>
          <a:noFill/>
          <a:ln w="9525">
            <a:solidFill>
              <a:srgbClr val="CBD6D8"/>
            </a:solidFill>
            <a:prstDash val="solid"/>
          </a:ln>
        </p:spPr>
      </p:sp>
      <p:sp>
        <p:nvSpPr>
          <p:cNvPr id="17" name="Rectangle 16">
            <a:extLst>
              <a:ext uri="{FF2B5EF4-FFF2-40B4-BE49-F238E27FC236}">
                <a16:creationId xmlns:a16="http://schemas.microsoft.com/office/drawing/2014/main" id="{2C5B098F-9093-4DC3-8865-AA68E1EFCF17}"/>
              </a:ext>
            </a:extLst>
          </p:cNvPr>
          <p:cNvSpPr>
            <a:spLocks noGrp="1"/>
          </p:cNvSpPr>
          <p:nvPr/>
        </p:nvSpPr>
        <p:spPr>
          <a:xfrm>
            <a:off x="723900" y="3838575"/>
            <a:ext cx="76200" cy="638175"/>
          </a:xfrm>
          <a:prstGeom prst="rect">
            <a:avLst/>
          </a:prstGeom>
          <a:solidFill>
            <a:srgbClr val="0E7C86"/>
          </a:solidFill>
          <a:ln w="0">
            <a:noFill/>
            <a:prstDash val="solid"/>
          </a:ln>
        </p:spPr>
      </p:sp>
      <p:sp>
        <p:nvSpPr>
          <p:cNvPr id="19" name="Rectangle 18">
            <a:extLst>
              <a:ext uri="{FF2B5EF4-FFF2-40B4-BE49-F238E27FC236}">
                <a16:creationId xmlns:a16="http://schemas.microsoft.com/office/drawing/2014/main" id="{8400A817-B7A1-404D-892A-18FFF4001DEA}"/>
              </a:ext>
            </a:extLst>
          </p:cNvPr>
          <p:cNvSpPr>
            <a:spLocks noGrp="1"/>
          </p:cNvSpPr>
          <p:nvPr/>
        </p:nvSpPr>
        <p:spPr>
          <a:xfrm>
            <a:off x="1000124" y="3838577"/>
            <a:ext cx="4667250"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M. Sai Karthik - 2620040008</a:t>
            </a:r>
            <a:endParaRPr sz="2025" b="1" dirty="0">
              <a:solidFill>
                <a:srgbClr val="142B3B"/>
              </a:solidFill>
            </a:endParaRPr>
          </a:p>
        </p:txBody>
      </p:sp>
      <p:sp>
        <p:nvSpPr>
          <p:cNvPr id="21" name="Straight Connector 20">
            <a:extLst>
              <a:ext uri="{FF2B5EF4-FFF2-40B4-BE49-F238E27FC236}">
                <a16:creationId xmlns:a16="http://schemas.microsoft.com/office/drawing/2014/main" id="{C6350CF0-C701-4C85-A1CB-5602E8BF51C3}"/>
              </a:ext>
            </a:extLst>
          </p:cNvPr>
          <p:cNvSpPr>
            <a:spLocks noGrp="1"/>
          </p:cNvSpPr>
          <p:nvPr/>
        </p:nvSpPr>
        <p:spPr>
          <a:xfrm>
            <a:off x="1885950" y="4514850"/>
            <a:ext cx="8924925" cy="0"/>
          </a:xfrm>
          <a:prstGeom prst="line">
            <a:avLst/>
          </a:prstGeom>
          <a:noFill/>
          <a:ln w="9525">
            <a:solidFill>
              <a:srgbClr val="CBD6D8"/>
            </a:solidFill>
            <a:prstDash val="solid"/>
          </a:ln>
        </p:spPr>
      </p:sp>
      <p:sp>
        <p:nvSpPr>
          <p:cNvPr id="22" name="Rectangle 21">
            <a:extLst>
              <a:ext uri="{FF2B5EF4-FFF2-40B4-BE49-F238E27FC236}">
                <a16:creationId xmlns:a16="http://schemas.microsoft.com/office/drawing/2014/main" id="{F1C55501-C8C7-41D9-B993-5DA21129B9CA}"/>
              </a:ext>
            </a:extLst>
          </p:cNvPr>
          <p:cNvSpPr>
            <a:spLocks noGrp="1"/>
          </p:cNvSpPr>
          <p:nvPr/>
        </p:nvSpPr>
        <p:spPr>
          <a:xfrm>
            <a:off x="723900" y="4772025"/>
            <a:ext cx="76200" cy="638175"/>
          </a:xfrm>
          <a:prstGeom prst="rect">
            <a:avLst/>
          </a:prstGeom>
          <a:solidFill>
            <a:srgbClr val="F2A65A"/>
          </a:solidFill>
          <a:ln w="0">
            <a:noFill/>
            <a:prstDash val="solid"/>
          </a:ln>
        </p:spPr>
      </p:sp>
      <p:sp>
        <p:nvSpPr>
          <p:cNvPr id="24" name="Rectangle 23">
            <a:extLst>
              <a:ext uri="{FF2B5EF4-FFF2-40B4-BE49-F238E27FC236}">
                <a16:creationId xmlns:a16="http://schemas.microsoft.com/office/drawing/2014/main" id="{1C8B24B7-714A-4DF5-9E95-00F9C226EEBC}"/>
              </a:ext>
            </a:extLst>
          </p:cNvPr>
          <p:cNvSpPr>
            <a:spLocks noGrp="1"/>
          </p:cNvSpPr>
          <p:nvPr/>
        </p:nvSpPr>
        <p:spPr>
          <a:xfrm>
            <a:off x="1000124" y="4872039"/>
            <a:ext cx="4667250" cy="476250"/>
          </a:xfrm>
          <a:prstGeom prst="rect">
            <a:avLst/>
          </a:prstGeom>
          <a:noFill/>
          <a:ln w="0">
            <a:noFill/>
            <a:prstDash val="solid"/>
          </a:ln>
        </p:spPr>
        <p:txBody>
          <a:bodyPr anchor="ctr"/>
          <a:lstStyle>
            <a:defPPr algn="l">
              <a:defRPr sz="2025" b="1">
                <a:solidFill>
                  <a:srgbClr val="142B3B"/>
                </a:solidFill>
              </a:defRPr>
            </a:defPPr>
          </a:lstStyle>
          <a:p>
            <a:pPr algn="l">
              <a:defRPr sz="2025" b="1">
                <a:solidFill>
                  <a:srgbClr val="142B3B"/>
                </a:solidFill>
              </a:defRPr>
            </a:pPr>
            <a:r>
              <a:rPr lang="en-GB" sz="2025" b="1" dirty="0">
                <a:solidFill>
                  <a:srgbClr val="142B3B"/>
                </a:solidFill>
              </a:rPr>
              <a:t>GR. Srinidhi - 2620040054</a:t>
            </a:r>
            <a:endParaRPr sz="2025" b="1" dirty="0">
              <a:solidFill>
                <a:srgbClr val="142B3B"/>
              </a:solidFill>
            </a:endParaRPr>
          </a:p>
        </p:txBody>
      </p:sp>
      <p:sp>
        <p:nvSpPr>
          <p:cNvPr id="26" name="Straight Connector 25">
            <a:extLst>
              <a:ext uri="{FF2B5EF4-FFF2-40B4-BE49-F238E27FC236}">
                <a16:creationId xmlns:a16="http://schemas.microsoft.com/office/drawing/2014/main" id="{62BC814E-9740-426F-AD15-85666FFEB2DF}"/>
              </a:ext>
            </a:extLst>
          </p:cNvPr>
          <p:cNvSpPr>
            <a:spLocks noGrp="1"/>
          </p:cNvSpPr>
          <p:nvPr/>
        </p:nvSpPr>
        <p:spPr>
          <a:xfrm>
            <a:off x="1885950" y="5448300"/>
            <a:ext cx="8924925" cy="0"/>
          </a:xfrm>
          <a:prstGeom prst="line">
            <a:avLst/>
          </a:prstGeom>
          <a:noFill/>
          <a:ln w="9525">
            <a:solidFill>
              <a:srgbClr val="CBD6D8"/>
            </a:solidFill>
            <a:prstDash val="solid"/>
          </a:ln>
        </p:spPr>
      </p:sp>
      <p:sp>
        <p:nvSpPr>
          <p:cNvPr id="27" name="Rectangle 26">
            <a:extLst>
              <a:ext uri="{FF2B5EF4-FFF2-40B4-BE49-F238E27FC236}">
                <a16:creationId xmlns:a16="http://schemas.microsoft.com/office/drawing/2014/main" id="{915480B7-9934-4191-BC8F-CC4958DFCD03}"/>
              </a:ext>
            </a:extLst>
          </p:cNvPr>
          <p:cNvSpPr>
            <a:spLocks noGrp="1"/>
          </p:cNvSpPr>
          <p:nvPr/>
        </p:nvSpPr>
        <p:spPr>
          <a:xfrm>
            <a:off x="1885950" y="5857875"/>
            <a:ext cx="6953250" cy="323850"/>
          </a:xfrm>
          <a:prstGeom prst="rect">
            <a:avLst/>
          </a:prstGeom>
          <a:noFill/>
          <a:ln w="0">
            <a:noFill/>
            <a:prstDash val="solid"/>
          </a:ln>
        </p:spPr>
        <p:txBody>
          <a:bodyPr anchor="ctr"/>
          <a:lstStyle>
            <a:defPPr algn="l">
              <a:defRPr sz="1350" b="1">
                <a:solidFill>
                  <a:srgbClr val="5C707D"/>
                </a:solidFill>
              </a:defRPr>
            </a:defPPr>
          </a:lstStyle>
          <a:p>
            <a:pPr algn="l">
              <a:defRPr sz="1350" b="1">
                <a:solidFill>
                  <a:srgbClr val="5C707D"/>
                </a:solidFill>
              </a:defRPr>
            </a:pPr>
            <a:r>
              <a:rPr sz="1350" b="1">
                <a:solidFill>
                  <a:srgbClr val="5C707D"/>
                </a:solidFill>
              </a:rPr>
              <a:t>Section 8  •  Replace the four name placeholders</a:t>
            </a:r>
          </a:p>
        </p:txBody>
      </p:sp>
    </p:spTree>
    <p:extLst>
      <p:ext uri="{BB962C8B-B14F-4D97-AF65-F5344CB8AC3E}">
        <p14:creationId xmlns:p14="http://schemas.microsoft.com/office/powerpoint/2010/main" val="855141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EA49ADD-2A72-4F76-8697-F24769E3DC77}"/>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4F408322-04F8-4F57-8988-AEAF810B746C}"/>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FFFFFF"/>
                </a:solidFill>
              </a:defRPr>
            </a:defPPr>
          </a:lstStyle>
          <a:p>
            <a:pPr algn="l">
              <a:defRPr sz="2775" b="1">
                <a:solidFill>
                  <a:srgbClr val="FFFFFF"/>
                </a:solidFill>
              </a:defRPr>
            </a:pPr>
            <a:r>
              <a:rPr sz="2775" b="1">
                <a:solidFill>
                  <a:srgbClr val="FFFFFF"/>
                </a:solidFill>
              </a:rPr>
              <a:t>WHY GRAY CODE MATTERS</a:t>
            </a:r>
          </a:p>
        </p:txBody>
      </p:sp>
      <p:sp>
        <p:nvSpPr>
          <p:cNvPr id="3" name="Straight Connector 2">
            <a:extLst>
              <a:ext uri="{FF2B5EF4-FFF2-40B4-BE49-F238E27FC236}">
                <a16:creationId xmlns:a16="http://schemas.microsoft.com/office/drawing/2014/main" id="{4AC06E9A-B2B8-4C28-B616-862DE6E7D5E5}"/>
              </a:ext>
            </a:extLst>
          </p:cNvPr>
          <p:cNvSpPr>
            <a:spLocks noGrp="1"/>
          </p:cNvSpPr>
          <p:nvPr/>
        </p:nvSpPr>
        <p:spPr>
          <a:xfrm>
            <a:off x="666750" y="1066800"/>
            <a:ext cx="10858500" cy="0"/>
          </a:xfrm>
          <a:prstGeom prst="line">
            <a:avLst/>
          </a:prstGeom>
          <a:noFill/>
          <a:ln w="19050">
            <a:solidFill>
              <a:srgbClr val="5C707D"/>
            </a:solidFill>
            <a:prstDash val="solid"/>
          </a:ln>
        </p:spPr>
      </p:sp>
      <p:sp>
        <p:nvSpPr>
          <p:cNvPr id="4" name="Rectangle 3">
            <a:extLst>
              <a:ext uri="{FF2B5EF4-FFF2-40B4-BE49-F238E27FC236}">
                <a16:creationId xmlns:a16="http://schemas.microsoft.com/office/drawing/2014/main" id="{3E86F3B7-DDD9-445E-A090-512F9BCEF9F5}"/>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BDE5E1"/>
                </a:solidFill>
              </a:defRPr>
            </a:defPPr>
          </a:lstStyle>
          <a:p>
            <a:pPr algn="l">
              <a:defRPr sz="975" b="1">
                <a:solidFill>
                  <a:srgbClr val="BDE5E1"/>
                </a:solidFill>
              </a:defRPr>
            </a:pPr>
            <a:r>
              <a:rPr sz="975" b="1">
                <a:solidFill>
                  <a:srgbClr val="BDE5E1"/>
                </a:solidFill>
              </a:rPr>
              <a:t>DDCA  •  GRAY CODE TO BINARY</a:t>
            </a:r>
          </a:p>
        </p:txBody>
      </p:sp>
      <p:sp>
        <p:nvSpPr>
          <p:cNvPr id="5" name="Rectangle 4">
            <a:extLst>
              <a:ext uri="{FF2B5EF4-FFF2-40B4-BE49-F238E27FC236}">
                <a16:creationId xmlns:a16="http://schemas.microsoft.com/office/drawing/2014/main" id="{D5DBA114-98E6-4359-88F5-5CE548007395}"/>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BDE5E1"/>
                </a:solidFill>
              </a:defRPr>
            </a:defPPr>
          </a:lstStyle>
          <a:p>
            <a:pPr algn="r">
              <a:defRPr sz="975" b="1">
                <a:solidFill>
                  <a:srgbClr val="BDE5E1"/>
                </a:solidFill>
              </a:defRPr>
            </a:pPr>
            <a:r>
              <a:rPr sz="975" b="1">
                <a:solidFill>
                  <a:srgbClr val="BDE5E1"/>
                </a:solidFill>
              </a:rPr>
              <a:t>PRESENTER 1   |   03</a:t>
            </a:r>
          </a:p>
        </p:txBody>
      </p:sp>
      <p:sp>
        <p:nvSpPr>
          <p:cNvPr id="6" name="Rectangle 5">
            <a:extLst>
              <a:ext uri="{FF2B5EF4-FFF2-40B4-BE49-F238E27FC236}">
                <a16:creationId xmlns:a16="http://schemas.microsoft.com/office/drawing/2014/main" id="{DE526759-EA83-4906-855E-4D827BBF8515}"/>
              </a:ext>
            </a:extLst>
          </p:cNvPr>
          <p:cNvSpPr>
            <a:spLocks noGrp="1"/>
          </p:cNvSpPr>
          <p:nvPr/>
        </p:nvSpPr>
        <p:spPr>
          <a:xfrm>
            <a:off x="742950" y="1390650"/>
            <a:ext cx="6000750" cy="990600"/>
          </a:xfrm>
          <a:prstGeom prst="rect">
            <a:avLst/>
          </a:prstGeom>
          <a:noFill/>
          <a:ln w="0">
            <a:noFill/>
            <a:prstDash val="solid"/>
          </a:ln>
        </p:spPr>
        <p:txBody>
          <a:bodyPr anchor="ctr"/>
          <a:lstStyle>
            <a:defPPr algn="l">
              <a:defRPr sz="2250" b="1">
                <a:solidFill>
                  <a:srgbClr val="FFFFFF"/>
                </a:solidFill>
              </a:defRPr>
            </a:defPPr>
          </a:lstStyle>
          <a:p>
            <a:pPr algn="l">
              <a:defRPr sz="2250" b="1">
                <a:solidFill>
                  <a:srgbClr val="FFFFFF"/>
                </a:solidFill>
              </a:defRPr>
            </a:pPr>
            <a:r>
              <a:rPr sz="2250" b="1">
                <a:solidFill>
                  <a:srgbClr val="FFFFFF"/>
                </a:solidFill>
              </a:rPr>
              <a:t>A SENSOR CAN READ THE WRONG VALUE</a:t>
            </a:r>
          </a:p>
          <a:p>
            <a:pPr algn="l">
              <a:defRPr sz="2250" b="1">
                <a:solidFill>
                  <a:srgbClr val="FFFFFF"/>
                </a:solidFill>
              </a:defRPr>
            </a:pPr>
            <a:r>
              <a:rPr sz="2250" b="1">
                <a:solidFill>
                  <a:srgbClr val="FFFFFF"/>
                </a:solidFill>
              </a:rPr>
              <a:t>WHEN MANY BITS SWITCH TOGETHER.</a:t>
            </a:r>
          </a:p>
        </p:txBody>
      </p:sp>
      <p:sp>
        <p:nvSpPr>
          <p:cNvPr id="7" name="Rectangle 6">
            <a:extLst>
              <a:ext uri="{FF2B5EF4-FFF2-40B4-BE49-F238E27FC236}">
                <a16:creationId xmlns:a16="http://schemas.microsoft.com/office/drawing/2014/main" id="{1C9379E2-6F2A-4858-AE4D-5668453F4CAB}"/>
              </a:ext>
            </a:extLst>
          </p:cNvPr>
          <p:cNvSpPr>
            <a:spLocks noGrp="1"/>
          </p:cNvSpPr>
          <p:nvPr/>
        </p:nvSpPr>
        <p:spPr>
          <a:xfrm>
            <a:off x="876300" y="3019425"/>
            <a:ext cx="2381250" cy="266700"/>
          </a:xfrm>
          <a:prstGeom prst="rect">
            <a:avLst/>
          </a:prstGeom>
          <a:noFill/>
          <a:ln w="0">
            <a:noFill/>
            <a:prstDash val="solid"/>
          </a:ln>
        </p:spPr>
        <p:txBody>
          <a:bodyPr anchor="ctr"/>
          <a:lstStyle>
            <a:defPPr algn="l">
              <a:defRPr sz="1200" b="1">
                <a:solidFill>
                  <a:srgbClr val="BDE5E1"/>
                </a:solidFill>
              </a:defRPr>
            </a:defPPr>
          </a:lstStyle>
          <a:p>
            <a:pPr algn="l">
              <a:defRPr sz="1200" b="1">
                <a:solidFill>
                  <a:srgbClr val="BDE5E1"/>
                </a:solidFill>
              </a:defRPr>
            </a:pPr>
            <a:r>
              <a:rPr sz="1200" b="1">
                <a:solidFill>
                  <a:srgbClr val="BDE5E1"/>
                </a:solidFill>
              </a:rPr>
              <a:t>BINARY CHANGE</a:t>
            </a:r>
          </a:p>
        </p:txBody>
      </p:sp>
      <p:sp>
        <p:nvSpPr>
          <p:cNvPr id="8" name="Rectangle 7">
            <a:extLst>
              <a:ext uri="{FF2B5EF4-FFF2-40B4-BE49-F238E27FC236}">
                <a16:creationId xmlns:a16="http://schemas.microsoft.com/office/drawing/2014/main" id="{277EC47E-DEAF-4258-A50E-E6F73F229C2C}"/>
              </a:ext>
            </a:extLst>
          </p:cNvPr>
          <p:cNvSpPr>
            <a:spLocks noGrp="1"/>
          </p:cNvSpPr>
          <p:nvPr/>
        </p:nvSpPr>
        <p:spPr>
          <a:xfrm>
            <a:off x="85725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011</a:t>
            </a:r>
          </a:p>
        </p:txBody>
      </p:sp>
      <p:sp>
        <p:nvSpPr>
          <p:cNvPr id="9" name="Rectangle 8">
            <a:extLst>
              <a:ext uri="{FF2B5EF4-FFF2-40B4-BE49-F238E27FC236}">
                <a16:creationId xmlns:a16="http://schemas.microsoft.com/office/drawing/2014/main" id="{218999B7-51E4-4483-B766-24EC38786810}"/>
              </a:ext>
            </a:extLst>
          </p:cNvPr>
          <p:cNvSpPr>
            <a:spLocks noGrp="1"/>
          </p:cNvSpPr>
          <p:nvPr/>
        </p:nvSpPr>
        <p:spPr>
          <a:xfrm>
            <a:off x="2333625" y="3429000"/>
            <a:ext cx="685800" cy="514350"/>
          </a:xfrm>
          <a:prstGeom prst="rect">
            <a:avLst/>
          </a:prstGeom>
          <a:noFill/>
          <a:ln w="0">
            <a:noFill/>
            <a:prstDash val="solid"/>
          </a:ln>
        </p:spPr>
        <p:txBody>
          <a:bodyPr anchor="ctr"/>
          <a:lstStyle>
            <a:defPPr algn="ctr">
              <a:defRPr sz="2625" b="1">
                <a:solidFill>
                  <a:srgbClr val="F2A65A"/>
                </a:solidFill>
              </a:defRPr>
            </a:defPPr>
          </a:lstStyle>
          <a:p>
            <a:pPr algn="ctr">
              <a:defRPr sz="2625" b="1">
                <a:solidFill>
                  <a:srgbClr val="F2A65A"/>
                </a:solidFill>
              </a:defRPr>
            </a:pPr>
            <a:r>
              <a:rPr sz="2625" b="1">
                <a:solidFill>
                  <a:srgbClr val="F2A65A"/>
                </a:solidFill>
              </a:rPr>
              <a:t>→</a:t>
            </a:r>
          </a:p>
        </p:txBody>
      </p:sp>
      <p:sp>
        <p:nvSpPr>
          <p:cNvPr id="10" name="Rectangle 9">
            <a:extLst>
              <a:ext uri="{FF2B5EF4-FFF2-40B4-BE49-F238E27FC236}">
                <a16:creationId xmlns:a16="http://schemas.microsoft.com/office/drawing/2014/main" id="{1C7BEB48-A77E-4ED1-B6BF-6DC7509DD0F7}"/>
              </a:ext>
            </a:extLst>
          </p:cNvPr>
          <p:cNvSpPr>
            <a:spLocks noGrp="1"/>
          </p:cNvSpPr>
          <p:nvPr/>
        </p:nvSpPr>
        <p:spPr>
          <a:xfrm>
            <a:off x="304800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100</a:t>
            </a:r>
          </a:p>
        </p:txBody>
      </p:sp>
      <p:sp>
        <p:nvSpPr>
          <p:cNvPr id="11" name="Rectangle 10">
            <a:extLst>
              <a:ext uri="{FF2B5EF4-FFF2-40B4-BE49-F238E27FC236}">
                <a16:creationId xmlns:a16="http://schemas.microsoft.com/office/drawing/2014/main" id="{C7F7BDE4-55F3-4040-BB8A-00DC6957E9CA}"/>
              </a:ext>
            </a:extLst>
          </p:cNvPr>
          <p:cNvSpPr>
            <a:spLocks noGrp="1"/>
          </p:cNvSpPr>
          <p:nvPr/>
        </p:nvSpPr>
        <p:spPr>
          <a:xfrm>
            <a:off x="1685925" y="4143375"/>
            <a:ext cx="2095500" cy="304800"/>
          </a:xfrm>
          <a:prstGeom prst="rect">
            <a:avLst/>
          </a:prstGeom>
          <a:noFill/>
          <a:ln w="0">
            <a:noFill/>
            <a:prstDash val="solid"/>
          </a:ln>
        </p:spPr>
        <p:txBody>
          <a:bodyPr anchor="ctr"/>
          <a:lstStyle>
            <a:defPPr algn="ctr">
              <a:defRPr sz="1500" b="1">
                <a:solidFill>
                  <a:srgbClr val="C96743"/>
                </a:solidFill>
              </a:defRPr>
            </a:defPPr>
          </a:lstStyle>
          <a:p>
            <a:pPr algn="ctr">
              <a:defRPr sz="1500" b="1">
                <a:solidFill>
                  <a:srgbClr val="C96743"/>
                </a:solidFill>
              </a:defRPr>
            </a:pPr>
            <a:r>
              <a:rPr sz="1500" b="1">
                <a:solidFill>
                  <a:srgbClr val="C96743"/>
                </a:solidFill>
              </a:rPr>
              <a:t>3 bits change</a:t>
            </a:r>
          </a:p>
        </p:txBody>
      </p:sp>
      <p:sp>
        <p:nvSpPr>
          <p:cNvPr id="12" name="Rectangle 11">
            <a:extLst>
              <a:ext uri="{FF2B5EF4-FFF2-40B4-BE49-F238E27FC236}">
                <a16:creationId xmlns:a16="http://schemas.microsoft.com/office/drawing/2014/main" id="{33386CDE-CC05-4715-A85E-22B6909B5BB2}"/>
              </a:ext>
            </a:extLst>
          </p:cNvPr>
          <p:cNvSpPr>
            <a:spLocks noGrp="1"/>
          </p:cNvSpPr>
          <p:nvPr/>
        </p:nvSpPr>
        <p:spPr>
          <a:xfrm>
            <a:off x="5286375" y="3019425"/>
            <a:ext cx="2381250" cy="266700"/>
          </a:xfrm>
          <a:prstGeom prst="rect">
            <a:avLst/>
          </a:prstGeom>
          <a:noFill/>
          <a:ln w="0">
            <a:noFill/>
            <a:prstDash val="solid"/>
          </a:ln>
        </p:spPr>
        <p:txBody>
          <a:bodyPr anchor="ctr"/>
          <a:lstStyle>
            <a:defPPr algn="l">
              <a:defRPr sz="1200" b="1">
                <a:solidFill>
                  <a:srgbClr val="BDE5E1"/>
                </a:solidFill>
              </a:defRPr>
            </a:defPPr>
          </a:lstStyle>
          <a:p>
            <a:pPr algn="l">
              <a:defRPr sz="1200" b="1">
                <a:solidFill>
                  <a:srgbClr val="BDE5E1"/>
                </a:solidFill>
              </a:defRPr>
            </a:pPr>
            <a:r>
              <a:rPr sz="1200" b="1">
                <a:solidFill>
                  <a:srgbClr val="BDE5E1"/>
                </a:solidFill>
              </a:rPr>
              <a:t>GRAY CHANGE</a:t>
            </a:r>
          </a:p>
        </p:txBody>
      </p:sp>
      <p:sp>
        <p:nvSpPr>
          <p:cNvPr id="13" name="Rectangle 12">
            <a:extLst>
              <a:ext uri="{FF2B5EF4-FFF2-40B4-BE49-F238E27FC236}">
                <a16:creationId xmlns:a16="http://schemas.microsoft.com/office/drawing/2014/main" id="{EE5E9420-D107-4AD4-9DBD-BEFA59DB5A35}"/>
              </a:ext>
            </a:extLst>
          </p:cNvPr>
          <p:cNvSpPr>
            <a:spLocks noGrp="1"/>
          </p:cNvSpPr>
          <p:nvPr/>
        </p:nvSpPr>
        <p:spPr>
          <a:xfrm>
            <a:off x="523875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010</a:t>
            </a:r>
          </a:p>
        </p:txBody>
      </p:sp>
      <p:sp>
        <p:nvSpPr>
          <p:cNvPr id="14" name="Rectangle 13">
            <a:extLst>
              <a:ext uri="{FF2B5EF4-FFF2-40B4-BE49-F238E27FC236}">
                <a16:creationId xmlns:a16="http://schemas.microsoft.com/office/drawing/2014/main" id="{4579DD6F-6657-404F-B73D-2805C6952ACB}"/>
              </a:ext>
            </a:extLst>
          </p:cNvPr>
          <p:cNvSpPr>
            <a:spLocks noGrp="1"/>
          </p:cNvSpPr>
          <p:nvPr/>
        </p:nvSpPr>
        <p:spPr>
          <a:xfrm>
            <a:off x="6715125" y="3429000"/>
            <a:ext cx="685800" cy="514350"/>
          </a:xfrm>
          <a:prstGeom prst="rect">
            <a:avLst/>
          </a:prstGeom>
          <a:noFill/>
          <a:ln w="0">
            <a:noFill/>
            <a:prstDash val="solid"/>
          </a:ln>
        </p:spPr>
        <p:txBody>
          <a:bodyPr anchor="ctr"/>
          <a:lstStyle>
            <a:defPPr algn="ctr">
              <a:defRPr sz="2625" b="1">
                <a:solidFill>
                  <a:srgbClr val="F2A65A"/>
                </a:solidFill>
              </a:defRPr>
            </a:defPPr>
          </a:lstStyle>
          <a:p>
            <a:pPr algn="ctr">
              <a:defRPr sz="2625" b="1">
                <a:solidFill>
                  <a:srgbClr val="F2A65A"/>
                </a:solidFill>
              </a:defRPr>
            </a:pPr>
            <a:r>
              <a:rPr sz="2625" b="1">
                <a:solidFill>
                  <a:srgbClr val="F2A65A"/>
                </a:solidFill>
              </a:rPr>
              <a:t>→</a:t>
            </a:r>
          </a:p>
        </p:txBody>
      </p:sp>
      <p:sp>
        <p:nvSpPr>
          <p:cNvPr id="15" name="Rectangle 14">
            <a:extLst>
              <a:ext uri="{FF2B5EF4-FFF2-40B4-BE49-F238E27FC236}">
                <a16:creationId xmlns:a16="http://schemas.microsoft.com/office/drawing/2014/main" id="{8DDE4E91-A11F-49E6-8148-03A4BFFD802E}"/>
              </a:ext>
            </a:extLst>
          </p:cNvPr>
          <p:cNvSpPr>
            <a:spLocks noGrp="1"/>
          </p:cNvSpPr>
          <p:nvPr/>
        </p:nvSpPr>
        <p:spPr>
          <a:xfrm>
            <a:off x="7429500" y="3362325"/>
            <a:ext cx="1428750" cy="666750"/>
          </a:xfrm>
          <a:prstGeom prst="rect">
            <a:avLst/>
          </a:prstGeom>
          <a:noFill/>
          <a:ln w="0">
            <a:noFill/>
            <a:prstDash val="solid"/>
          </a:ln>
        </p:spPr>
        <p:txBody>
          <a:bodyPr anchor="ctr"/>
          <a:lstStyle>
            <a:defPPr algn="ctr">
              <a:defRPr sz="3675" b="1">
                <a:solidFill>
                  <a:srgbClr val="FFFFFF"/>
                </a:solidFill>
              </a:defRPr>
            </a:defPPr>
          </a:lstStyle>
          <a:p>
            <a:pPr algn="ctr">
              <a:defRPr sz="3675" b="1">
                <a:solidFill>
                  <a:srgbClr val="FFFFFF"/>
                </a:solidFill>
              </a:defRPr>
            </a:pPr>
            <a:r>
              <a:rPr sz="3675" b="1">
                <a:solidFill>
                  <a:srgbClr val="FFFFFF"/>
                </a:solidFill>
              </a:rPr>
              <a:t>110</a:t>
            </a:r>
          </a:p>
        </p:txBody>
      </p:sp>
      <p:sp>
        <p:nvSpPr>
          <p:cNvPr id="16" name="Rectangle 15">
            <a:extLst>
              <a:ext uri="{FF2B5EF4-FFF2-40B4-BE49-F238E27FC236}">
                <a16:creationId xmlns:a16="http://schemas.microsoft.com/office/drawing/2014/main" id="{151D4A8E-526C-49E2-A78F-F0F557A7C592}"/>
              </a:ext>
            </a:extLst>
          </p:cNvPr>
          <p:cNvSpPr>
            <a:spLocks noGrp="1"/>
          </p:cNvSpPr>
          <p:nvPr/>
        </p:nvSpPr>
        <p:spPr>
          <a:xfrm>
            <a:off x="6029325" y="4143375"/>
            <a:ext cx="2095500" cy="304800"/>
          </a:xfrm>
          <a:prstGeom prst="rect">
            <a:avLst/>
          </a:prstGeom>
          <a:noFill/>
          <a:ln w="0">
            <a:noFill/>
            <a:prstDash val="solid"/>
          </a:ln>
        </p:spPr>
        <p:txBody>
          <a:bodyPr anchor="ctr"/>
          <a:lstStyle>
            <a:defPPr algn="ctr">
              <a:defRPr sz="1500" b="1">
                <a:solidFill>
                  <a:srgbClr val="BDE5E1"/>
                </a:solidFill>
              </a:defRPr>
            </a:defPPr>
          </a:lstStyle>
          <a:p>
            <a:pPr algn="ctr">
              <a:defRPr sz="1500" b="1">
                <a:solidFill>
                  <a:srgbClr val="BDE5E1"/>
                </a:solidFill>
              </a:defRPr>
            </a:pPr>
            <a:r>
              <a:rPr sz="1500" b="1">
                <a:solidFill>
                  <a:srgbClr val="BDE5E1"/>
                </a:solidFill>
              </a:rPr>
              <a:t>1 bit changes</a:t>
            </a:r>
          </a:p>
        </p:txBody>
      </p:sp>
      <p:sp>
        <p:nvSpPr>
          <p:cNvPr id="17" name="Rectangle 16">
            <a:extLst>
              <a:ext uri="{FF2B5EF4-FFF2-40B4-BE49-F238E27FC236}">
                <a16:creationId xmlns:a16="http://schemas.microsoft.com/office/drawing/2014/main" id="{FFE3891D-6915-46A2-90DF-8C96466FACB5}"/>
              </a:ext>
            </a:extLst>
          </p:cNvPr>
          <p:cNvSpPr>
            <a:spLocks noGrp="1"/>
          </p:cNvSpPr>
          <p:nvPr/>
        </p:nvSpPr>
        <p:spPr>
          <a:xfrm>
            <a:off x="781050" y="5219700"/>
            <a:ext cx="9906000" cy="47625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Gray code reduces ambiguous transitions in position sensing.</a:t>
            </a:r>
          </a:p>
        </p:txBody>
      </p:sp>
    </p:spTree>
    <p:extLst>
      <p:ext uri="{BB962C8B-B14F-4D97-AF65-F5344CB8AC3E}">
        <p14:creationId xmlns:p14="http://schemas.microsoft.com/office/powerpoint/2010/main" val="78572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C071284-2F98-4A30-855E-5B1B798F6C1D}"/>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B547D477-843E-4A0D-B8AF-0FFFBEC820B3}"/>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GRAY CODE VS ORDINARY BINARY</a:t>
            </a:r>
          </a:p>
        </p:txBody>
      </p:sp>
      <p:sp>
        <p:nvSpPr>
          <p:cNvPr id="3" name="Straight Connector 2">
            <a:extLst>
              <a:ext uri="{FF2B5EF4-FFF2-40B4-BE49-F238E27FC236}">
                <a16:creationId xmlns:a16="http://schemas.microsoft.com/office/drawing/2014/main" id="{BBA89AEF-4D5D-4287-9409-CDEA3228BA77}"/>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F990B2CD-EF0F-4D43-AB56-7327D9E04084}"/>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7ADF2F10-4520-4488-8C30-CFF8CE3A0D41}"/>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2   |   04</a:t>
            </a:r>
          </a:p>
        </p:txBody>
      </p:sp>
      <p:sp>
        <p:nvSpPr>
          <p:cNvPr id="6" name="Rectangle 5">
            <a:extLst>
              <a:ext uri="{FF2B5EF4-FFF2-40B4-BE49-F238E27FC236}">
                <a16:creationId xmlns:a16="http://schemas.microsoft.com/office/drawing/2014/main" id="{FCBD96A5-DEE5-4864-BDFE-E527FDC80D16}"/>
              </a:ext>
            </a:extLst>
          </p:cNvPr>
          <p:cNvSpPr>
            <a:spLocks noGrp="1"/>
          </p:cNvSpPr>
          <p:nvPr/>
        </p:nvSpPr>
        <p:spPr>
          <a:xfrm>
            <a:off x="723900" y="1295400"/>
            <a:ext cx="10572750" cy="400050"/>
          </a:xfrm>
          <a:prstGeom prst="rect">
            <a:avLst/>
          </a:prstGeom>
          <a:noFill/>
          <a:ln w="0">
            <a:noFill/>
            <a:prstDash val="solid"/>
          </a:ln>
        </p:spPr>
        <p:txBody>
          <a:bodyPr anchor="ctr"/>
          <a:lstStyle>
            <a:defPPr algn="l">
              <a:defRPr sz="1350" b="1">
                <a:solidFill>
                  <a:srgbClr val="5C707D"/>
                </a:solidFill>
              </a:defRPr>
            </a:defPPr>
          </a:lstStyle>
          <a:p>
            <a:pPr algn="l">
              <a:defRPr sz="1350" b="1">
                <a:solidFill>
                  <a:srgbClr val="5C707D"/>
                </a:solidFill>
              </a:defRPr>
            </a:pPr>
            <a:r>
              <a:rPr sz="1350" b="1">
                <a:solidFill>
                  <a:srgbClr val="5C707D"/>
                </a:solidFill>
              </a:rPr>
              <a:t>BOTH REPRESENT THE SAME NUMBER. THEIR BIT PATTERNS FOLLOW DIFFERENT RULES.</a:t>
            </a:r>
          </a:p>
        </p:txBody>
      </p:sp>
      <p:sp>
        <p:nvSpPr>
          <p:cNvPr id="7" name="Rectangle 6">
            <a:extLst>
              <a:ext uri="{FF2B5EF4-FFF2-40B4-BE49-F238E27FC236}">
                <a16:creationId xmlns:a16="http://schemas.microsoft.com/office/drawing/2014/main" id="{B65F61CB-9378-488D-86FD-D99F1E0B7836}"/>
              </a:ext>
            </a:extLst>
          </p:cNvPr>
          <p:cNvSpPr>
            <a:spLocks noGrp="1"/>
          </p:cNvSpPr>
          <p:nvPr/>
        </p:nvSpPr>
        <p:spPr>
          <a:xfrm>
            <a:off x="1047750" y="2095500"/>
            <a:ext cx="2000250" cy="581025"/>
          </a:xfrm>
          <a:prstGeom prst="rect">
            <a:avLst/>
          </a:prstGeom>
          <a:solidFill>
            <a:srgbClr val="142B3B"/>
          </a:solidFill>
          <a:ln w="9525">
            <a:solidFill>
              <a:srgbClr val="CBD6D8"/>
            </a:solidFill>
            <a:prstDash val="solid"/>
          </a:ln>
        </p:spPr>
      </p:sp>
      <p:sp>
        <p:nvSpPr>
          <p:cNvPr id="8" name="Rectangle 7">
            <a:extLst>
              <a:ext uri="{FF2B5EF4-FFF2-40B4-BE49-F238E27FC236}">
                <a16:creationId xmlns:a16="http://schemas.microsoft.com/office/drawing/2014/main" id="{6424B5FA-C0D9-4438-8934-20382F4694B0}"/>
              </a:ext>
            </a:extLst>
          </p:cNvPr>
          <p:cNvSpPr>
            <a:spLocks noGrp="1"/>
          </p:cNvSpPr>
          <p:nvPr/>
        </p:nvSpPr>
        <p:spPr>
          <a:xfrm>
            <a:off x="1143000" y="2133600"/>
            <a:ext cx="1809750" cy="504825"/>
          </a:xfrm>
          <a:prstGeom prst="rect">
            <a:avLst/>
          </a:prstGeom>
          <a:noFill/>
          <a:ln w="0">
            <a:noFill/>
            <a:prstDash val="solid"/>
          </a:ln>
        </p:spPr>
        <p:txBody>
          <a:bodyPr anchor="ctr"/>
          <a:lstStyle>
            <a:defPPr algn="ctr">
              <a:defRPr sz="1275" b="1">
                <a:solidFill>
                  <a:srgbClr val="FFFFFF"/>
                </a:solidFill>
              </a:defRPr>
            </a:defPPr>
          </a:lstStyle>
          <a:p>
            <a:pPr algn="ctr">
              <a:defRPr sz="1275" b="1">
                <a:solidFill>
                  <a:srgbClr val="FFFFFF"/>
                </a:solidFill>
              </a:defRPr>
            </a:pPr>
            <a:r>
              <a:rPr sz="1275" b="1">
                <a:solidFill>
                  <a:srgbClr val="FFFFFF"/>
                </a:solidFill>
              </a:rPr>
              <a:t>DECIMAL</a:t>
            </a:r>
          </a:p>
        </p:txBody>
      </p:sp>
      <p:sp>
        <p:nvSpPr>
          <p:cNvPr id="9" name="Rectangle 8">
            <a:extLst>
              <a:ext uri="{FF2B5EF4-FFF2-40B4-BE49-F238E27FC236}">
                <a16:creationId xmlns:a16="http://schemas.microsoft.com/office/drawing/2014/main" id="{C287DA2D-B7AB-4B6E-BBEF-0C1AEDA5512B}"/>
              </a:ext>
            </a:extLst>
          </p:cNvPr>
          <p:cNvSpPr>
            <a:spLocks noGrp="1"/>
          </p:cNvSpPr>
          <p:nvPr/>
        </p:nvSpPr>
        <p:spPr>
          <a:xfrm>
            <a:off x="3619500" y="2095500"/>
            <a:ext cx="2476500" cy="581025"/>
          </a:xfrm>
          <a:prstGeom prst="rect">
            <a:avLst/>
          </a:prstGeom>
          <a:solidFill>
            <a:srgbClr val="142B3B"/>
          </a:solidFill>
          <a:ln w="9525">
            <a:solidFill>
              <a:srgbClr val="CBD6D8"/>
            </a:solidFill>
            <a:prstDash val="solid"/>
          </a:ln>
        </p:spPr>
      </p:sp>
      <p:sp>
        <p:nvSpPr>
          <p:cNvPr id="10" name="Rectangle 9">
            <a:extLst>
              <a:ext uri="{FF2B5EF4-FFF2-40B4-BE49-F238E27FC236}">
                <a16:creationId xmlns:a16="http://schemas.microsoft.com/office/drawing/2014/main" id="{5D4B1581-7392-41D8-B6C5-68B25B2617DA}"/>
              </a:ext>
            </a:extLst>
          </p:cNvPr>
          <p:cNvSpPr>
            <a:spLocks noGrp="1"/>
          </p:cNvSpPr>
          <p:nvPr/>
        </p:nvSpPr>
        <p:spPr>
          <a:xfrm>
            <a:off x="3714750" y="2133600"/>
            <a:ext cx="2286000" cy="504825"/>
          </a:xfrm>
          <a:prstGeom prst="rect">
            <a:avLst/>
          </a:prstGeom>
          <a:noFill/>
          <a:ln w="0">
            <a:noFill/>
            <a:prstDash val="solid"/>
          </a:ln>
        </p:spPr>
        <p:txBody>
          <a:bodyPr anchor="ctr"/>
          <a:lstStyle>
            <a:defPPr algn="ctr">
              <a:defRPr sz="1275" b="1">
                <a:solidFill>
                  <a:srgbClr val="FFFFFF"/>
                </a:solidFill>
              </a:defRPr>
            </a:defPPr>
          </a:lstStyle>
          <a:p>
            <a:pPr algn="ctr">
              <a:defRPr sz="1275" b="1">
                <a:solidFill>
                  <a:srgbClr val="FFFFFF"/>
                </a:solidFill>
              </a:defRPr>
            </a:pPr>
            <a:r>
              <a:rPr sz="1275" b="1">
                <a:solidFill>
                  <a:srgbClr val="FFFFFF"/>
                </a:solidFill>
              </a:rPr>
              <a:t>BINARY</a:t>
            </a:r>
          </a:p>
        </p:txBody>
      </p:sp>
      <p:sp>
        <p:nvSpPr>
          <p:cNvPr id="11" name="Rectangle 10">
            <a:extLst>
              <a:ext uri="{FF2B5EF4-FFF2-40B4-BE49-F238E27FC236}">
                <a16:creationId xmlns:a16="http://schemas.microsoft.com/office/drawing/2014/main" id="{4283CEB5-CF46-46AA-8BF8-7F5791C0BFA8}"/>
              </a:ext>
            </a:extLst>
          </p:cNvPr>
          <p:cNvSpPr>
            <a:spLocks noGrp="1"/>
          </p:cNvSpPr>
          <p:nvPr/>
        </p:nvSpPr>
        <p:spPr>
          <a:xfrm>
            <a:off x="6667500" y="2095500"/>
            <a:ext cx="2476500" cy="581025"/>
          </a:xfrm>
          <a:prstGeom prst="rect">
            <a:avLst/>
          </a:prstGeom>
          <a:solidFill>
            <a:srgbClr val="142B3B"/>
          </a:solidFill>
          <a:ln w="9525">
            <a:solidFill>
              <a:srgbClr val="CBD6D8"/>
            </a:solidFill>
            <a:prstDash val="solid"/>
          </a:ln>
        </p:spPr>
      </p:sp>
      <p:sp>
        <p:nvSpPr>
          <p:cNvPr id="12" name="Rectangle 11">
            <a:extLst>
              <a:ext uri="{FF2B5EF4-FFF2-40B4-BE49-F238E27FC236}">
                <a16:creationId xmlns:a16="http://schemas.microsoft.com/office/drawing/2014/main" id="{DB058EF2-1EF2-4EFE-8BF1-5A5F62A6DFD6}"/>
              </a:ext>
            </a:extLst>
          </p:cNvPr>
          <p:cNvSpPr>
            <a:spLocks noGrp="1"/>
          </p:cNvSpPr>
          <p:nvPr/>
        </p:nvSpPr>
        <p:spPr>
          <a:xfrm>
            <a:off x="6762750" y="2133600"/>
            <a:ext cx="2286000" cy="504825"/>
          </a:xfrm>
          <a:prstGeom prst="rect">
            <a:avLst/>
          </a:prstGeom>
          <a:noFill/>
          <a:ln w="0">
            <a:noFill/>
            <a:prstDash val="solid"/>
          </a:ln>
        </p:spPr>
        <p:txBody>
          <a:bodyPr anchor="ctr"/>
          <a:lstStyle>
            <a:defPPr algn="ctr">
              <a:defRPr sz="1275" b="1">
                <a:solidFill>
                  <a:srgbClr val="FFFFFF"/>
                </a:solidFill>
              </a:defRPr>
            </a:defPPr>
          </a:lstStyle>
          <a:p>
            <a:pPr algn="ctr">
              <a:defRPr sz="1275" b="1">
                <a:solidFill>
                  <a:srgbClr val="FFFFFF"/>
                </a:solidFill>
              </a:defRPr>
            </a:pPr>
            <a:r>
              <a:rPr sz="1275" b="1">
                <a:solidFill>
                  <a:srgbClr val="FFFFFF"/>
                </a:solidFill>
              </a:rPr>
              <a:t>GRAY</a:t>
            </a:r>
          </a:p>
        </p:txBody>
      </p:sp>
      <p:sp>
        <p:nvSpPr>
          <p:cNvPr id="13" name="Rectangle 12">
            <a:extLst>
              <a:ext uri="{FF2B5EF4-FFF2-40B4-BE49-F238E27FC236}">
                <a16:creationId xmlns:a16="http://schemas.microsoft.com/office/drawing/2014/main" id="{9E880361-91DA-425C-BF09-0BA67F07A419}"/>
              </a:ext>
            </a:extLst>
          </p:cNvPr>
          <p:cNvSpPr>
            <a:spLocks noGrp="1"/>
          </p:cNvSpPr>
          <p:nvPr/>
        </p:nvSpPr>
        <p:spPr>
          <a:xfrm>
            <a:off x="1047750" y="2676525"/>
            <a:ext cx="2000250" cy="581025"/>
          </a:xfrm>
          <a:prstGeom prst="rect">
            <a:avLst/>
          </a:prstGeom>
          <a:solidFill>
            <a:srgbClr val="FFFFFF"/>
          </a:solidFill>
          <a:ln w="9525">
            <a:solidFill>
              <a:srgbClr val="CBD6D8"/>
            </a:solidFill>
            <a:prstDash val="solid"/>
          </a:ln>
        </p:spPr>
      </p:sp>
      <p:sp>
        <p:nvSpPr>
          <p:cNvPr id="14" name="Rectangle 13">
            <a:extLst>
              <a:ext uri="{FF2B5EF4-FFF2-40B4-BE49-F238E27FC236}">
                <a16:creationId xmlns:a16="http://schemas.microsoft.com/office/drawing/2014/main" id="{4CC85CA0-86C7-448D-8121-8B6C839A428D}"/>
              </a:ext>
            </a:extLst>
          </p:cNvPr>
          <p:cNvSpPr>
            <a:spLocks noGrp="1"/>
          </p:cNvSpPr>
          <p:nvPr/>
        </p:nvSpPr>
        <p:spPr>
          <a:xfrm>
            <a:off x="1143000" y="2714625"/>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0</a:t>
            </a:r>
          </a:p>
        </p:txBody>
      </p:sp>
      <p:sp>
        <p:nvSpPr>
          <p:cNvPr id="15" name="Rectangle 14">
            <a:extLst>
              <a:ext uri="{FF2B5EF4-FFF2-40B4-BE49-F238E27FC236}">
                <a16:creationId xmlns:a16="http://schemas.microsoft.com/office/drawing/2014/main" id="{90781AE0-04ED-425F-BB24-254E5C1FBD11}"/>
              </a:ext>
            </a:extLst>
          </p:cNvPr>
          <p:cNvSpPr>
            <a:spLocks noGrp="1"/>
          </p:cNvSpPr>
          <p:nvPr/>
        </p:nvSpPr>
        <p:spPr>
          <a:xfrm>
            <a:off x="3619500" y="2676525"/>
            <a:ext cx="2476500" cy="581025"/>
          </a:xfrm>
          <a:prstGeom prst="rect">
            <a:avLst/>
          </a:prstGeom>
          <a:solidFill>
            <a:srgbClr val="FFFFFF"/>
          </a:solidFill>
          <a:ln w="9525">
            <a:solidFill>
              <a:srgbClr val="CBD6D8"/>
            </a:solidFill>
            <a:prstDash val="solid"/>
          </a:ln>
        </p:spPr>
      </p:sp>
      <p:sp>
        <p:nvSpPr>
          <p:cNvPr id="16" name="Rectangle 15">
            <a:extLst>
              <a:ext uri="{FF2B5EF4-FFF2-40B4-BE49-F238E27FC236}">
                <a16:creationId xmlns:a16="http://schemas.microsoft.com/office/drawing/2014/main" id="{DB37DB51-8FB1-4C58-B184-52B92D77599F}"/>
              </a:ext>
            </a:extLst>
          </p:cNvPr>
          <p:cNvSpPr>
            <a:spLocks noGrp="1"/>
          </p:cNvSpPr>
          <p:nvPr/>
        </p:nvSpPr>
        <p:spPr>
          <a:xfrm>
            <a:off x="3714750" y="2714625"/>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000</a:t>
            </a:r>
          </a:p>
        </p:txBody>
      </p:sp>
      <p:sp>
        <p:nvSpPr>
          <p:cNvPr id="17" name="Rectangle 16">
            <a:extLst>
              <a:ext uri="{FF2B5EF4-FFF2-40B4-BE49-F238E27FC236}">
                <a16:creationId xmlns:a16="http://schemas.microsoft.com/office/drawing/2014/main" id="{4B4480DE-93F0-40A7-9B19-2AC04C47B8AF}"/>
              </a:ext>
            </a:extLst>
          </p:cNvPr>
          <p:cNvSpPr>
            <a:spLocks noGrp="1"/>
          </p:cNvSpPr>
          <p:nvPr/>
        </p:nvSpPr>
        <p:spPr>
          <a:xfrm>
            <a:off x="6667500" y="2676525"/>
            <a:ext cx="2476500" cy="581025"/>
          </a:xfrm>
          <a:prstGeom prst="rect">
            <a:avLst/>
          </a:prstGeom>
          <a:solidFill>
            <a:srgbClr val="FFFFFF"/>
          </a:solidFill>
          <a:ln w="9525">
            <a:solidFill>
              <a:srgbClr val="CBD6D8"/>
            </a:solidFill>
            <a:prstDash val="solid"/>
          </a:ln>
        </p:spPr>
      </p:sp>
      <p:sp>
        <p:nvSpPr>
          <p:cNvPr id="18" name="Rectangle 17">
            <a:extLst>
              <a:ext uri="{FF2B5EF4-FFF2-40B4-BE49-F238E27FC236}">
                <a16:creationId xmlns:a16="http://schemas.microsoft.com/office/drawing/2014/main" id="{FDE13151-8AED-4D76-9344-DC62A6E1189B}"/>
              </a:ext>
            </a:extLst>
          </p:cNvPr>
          <p:cNvSpPr>
            <a:spLocks noGrp="1"/>
          </p:cNvSpPr>
          <p:nvPr/>
        </p:nvSpPr>
        <p:spPr>
          <a:xfrm>
            <a:off x="6762750" y="2714625"/>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000</a:t>
            </a:r>
          </a:p>
        </p:txBody>
      </p:sp>
      <p:sp>
        <p:nvSpPr>
          <p:cNvPr id="19" name="Rectangle 18">
            <a:extLst>
              <a:ext uri="{FF2B5EF4-FFF2-40B4-BE49-F238E27FC236}">
                <a16:creationId xmlns:a16="http://schemas.microsoft.com/office/drawing/2014/main" id="{060D949F-3476-41DD-9D17-04ACB4B343C6}"/>
              </a:ext>
            </a:extLst>
          </p:cNvPr>
          <p:cNvSpPr>
            <a:spLocks noGrp="1"/>
          </p:cNvSpPr>
          <p:nvPr/>
        </p:nvSpPr>
        <p:spPr>
          <a:xfrm>
            <a:off x="1047750" y="3257550"/>
            <a:ext cx="2000250" cy="581025"/>
          </a:xfrm>
          <a:prstGeom prst="rect">
            <a:avLst/>
          </a:prstGeom>
          <a:solidFill>
            <a:srgbClr val="E7EFF0"/>
          </a:solidFill>
          <a:ln w="9525">
            <a:solidFill>
              <a:srgbClr val="CBD6D8"/>
            </a:solidFill>
            <a:prstDash val="solid"/>
          </a:ln>
        </p:spPr>
      </p:sp>
      <p:sp>
        <p:nvSpPr>
          <p:cNvPr id="20" name="Rectangle 19">
            <a:extLst>
              <a:ext uri="{FF2B5EF4-FFF2-40B4-BE49-F238E27FC236}">
                <a16:creationId xmlns:a16="http://schemas.microsoft.com/office/drawing/2014/main" id="{0DAEA1F5-46BE-4BD5-833E-163BF866234A}"/>
              </a:ext>
            </a:extLst>
          </p:cNvPr>
          <p:cNvSpPr>
            <a:spLocks noGrp="1"/>
          </p:cNvSpPr>
          <p:nvPr/>
        </p:nvSpPr>
        <p:spPr>
          <a:xfrm>
            <a:off x="1143000" y="3295650"/>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1</a:t>
            </a:r>
          </a:p>
        </p:txBody>
      </p:sp>
      <p:sp>
        <p:nvSpPr>
          <p:cNvPr id="21" name="Rectangle 20">
            <a:extLst>
              <a:ext uri="{FF2B5EF4-FFF2-40B4-BE49-F238E27FC236}">
                <a16:creationId xmlns:a16="http://schemas.microsoft.com/office/drawing/2014/main" id="{15303648-EC54-4451-BE20-710DCF15BB12}"/>
              </a:ext>
            </a:extLst>
          </p:cNvPr>
          <p:cNvSpPr>
            <a:spLocks noGrp="1"/>
          </p:cNvSpPr>
          <p:nvPr/>
        </p:nvSpPr>
        <p:spPr>
          <a:xfrm>
            <a:off x="3619500" y="3257550"/>
            <a:ext cx="2476500" cy="581025"/>
          </a:xfrm>
          <a:prstGeom prst="rect">
            <a:avLst/>
          </a:prstGeom>
          <a:solidFill>
            <a:srgbClr val="E7EFF0"/>
          </a:solidFill>
          <a:ln w="9525">
            <a:solidFill>
              <a:srgbClr val="CBD6D8"/>
            </a:solidFill>
            <a:prstDash val="solid"/>
          </a:ln>
        </p:spPr>
      </p:sp>
      <p:sp>
        <p:nvSpPr>
          <p:cNvPr id="22" name="Rectangle 21">
            <a:extLst>
              <a:ext uri="{FF2B5EF4-FFF2-40B4-BE49-F238E27FC236}">
                <a16:creationId xmlns:a16="http://schemas.microsoft.com/office/drawing/2014/main" id="{4573D232-AB1B-467B-B019-ADD17458F99B}"/>
              </a:ext>
            </a:extLst>
          </p:cNvPr>
          <p:cNvSpPr>
            <a:spLocks noGrp="1"/>
          </p:cNvSpPr>
          <p:nvPr/>
        </p:nvSpPr>
        <p:spPr>
          <a:xfrm>
            <a:off x="3714750" y="3295650"/>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001</a:t>
            </a:r>
          </a:p>
        </p:txBody>
      </p:sp>
      <p:sp>
        <p:nvSpPr>
          <p:cNvPr id="23" name="Rectangle 22">
            <a:extLst>
              <a:ext uri="{FF2B5EF4-FFF2-40B4-BE49-F238E27FC236}">
                <a16:creationId xmlns:a16="http://schemas.microsoft.com/office/drawing/2014/main" id="{D818BA36-2FC6-40B3-A71C-13ED813C4F18}"/>
              </a:ext>
            </a:extLst>
          </p:cNvPr>
          <p:cNvSpPr>
            <a:spLocks noGrp="1"/>
          </p:cNvSpPr>
          <p:nvPr/>
        </p:nvSpPr>
        <p:spPr>
          <a:xfrm>
            <a:off x="6667500" y="3257550"/>
            <a:ext cx="2476500" cy="581025"/>
          </a:xfrm>
          <a:prstGeom prst="rect">
            <a:avLst/>
          </a:prstGeom>
          <a:solidFill>
            <a:srgbClr val="E7EFF0"/>
          </a:solidFill>
          <a:ln w="9525">
            <a:solidFill>
              <a:srgbClr val="CBD6D8"/>
            </a:solidFill>
            <a:prstDash val="solid"/>
          </a:ln>
        </p:spPr>
      </p:sp>
      <p:sp>
        <p:nvSpPr>
          <p:cNvPr id="24" name="Rectangle 23">
            <a:extLst>
              <a:ext uri="{FF2B5EF4-FFF2-40B4-BE49-F238E27FC236}">
                <a16:creationId xmlns:a16="http://schemas.microsoft.com/office/drawing/2014/main" id="{BE671714-B6CA-409B-959D-5B85B26B2C4F}"/>
              </a:ext>
            </a:extLst>
          </p:cNvPr>
          <p:cNvSpPr>
            <a:spLocks noGrp="1"/>
          </p:cNvSpPr>
          <p:nvPr/>
        </p:nvSpPr>
        <p:spPr>
          <a:xfrm>
            <a:off x="6762750" y="3295650"/>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001</a:t>
            </a:r>
          </a:p>
        </p:txBody>
      </p:sp>
      <p:sp>
        <p:nvSpPr>
          <p:cNvPr id="25" name="Rectangle 24">
            <a:extLst>
              <a:ext uri="{FF2B5EF4-FFF2-40B4-BE49-F238E27FC236}">
                <a16:creationId xmlns:a16="http://schemas.microsoft.com/office/drawing/2014/main" id="{ADE1A378-BD5A-42CD-A8CD-C0D946CDDE86}"/>
              </a:ext>
            </a:extLst>
          </p:cNvPr>
          <p:cNvSpPr>
            <a:spLocks noGrp="1"/>
          </p:cNvSpPr>
          <p:nvPr/>
        </p:nvSpPr>
        <p:spPr>
          <a:xfrm>
            <a:off x="1047750" y="3838575"/>
            <a:ext cx="2000250" cy="581025"/>
          </a:xfrm>
          <a:prstGeom prst="rect">
            <a:avLst/>
          </a:prstGeom>
          <a:solidFill>
            <a:srgbClr val="FFFFFF"/>
          </a:solidFill>
          <a:ln w="9525">
            <a:solidFill>
              <a:srgbClr val="CBD6D8"/>
            </a:solidFill>
            <a:prstDash val="solid"/>
          </a:ln>
        </p:spPr>
      </p:sp>
      <p:sp>
        <p:nvSpPr>
          <p:cNvPr id="26" name="Rectangle 25">
            <a:extLst>
              <a:ext uri="{FF2B5EF4-FFF2-40B4-BE49-F238E27FC236}">
                <a16:creationId xmlns:a16="http://schemas.microsoft.com/office/drawing/2014/main" id="{99579582-2CFF-41FA-B68B-54FB1CA61465}"/>
              </a:ext>
            </a:extLst>
          </p:cNvPr>
          <p:cNvSpPr>
            <a:spLocks noGrp="1"/>
          </p:cNvSpPr>
          <p:nvPr/>
        </p:nvSpPr>
        <p:spPr>
          <a:xfrm>
            <a:off x="1143000" y="3876675"/>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2</a:t>
            </a:r>
          </a:p>
        </p:txBody>
      </p:sp>
      <p:sp>
        <p:nvSpPr>
          <p:cNvPr id="27" name="Rectangle 26">
            <a:extLst>
              <a:ext uri="{FF2B5EF4-FFF2-40B4-BE49-F238E27FC236}">
                <a16:creationId xmlns:a16="http://schemas.microsoft.com/office/drawing/2014/main" id="{95225DBC-D896-44F8-B0FD-904BFA7811E6}"/>
              </a:ext>
            </a:extLst>
          </p:cNvPr>
          <p:cNvSpPr>
            <a:spLocks noGrp="1"/>
          </p:cNvSpPr>
          <p:nvPr/>
        </p:nvSpPr>
        <p:spPr>
          <a:xfrm>
            <a:off x="3619500" y="3838575"/>
            <a:ext cx="2476500" cy="581025"/>
          </a:xfrm>
          <a:prstGeom prst="rect">
            <a:avLst/>
          </a:prstGeom>
          <a:solidFill>
            <a:srgbClr val="FFFFFF"/>
          </a:solidFill>
          <a:ln w="9525">
            <a:solidFill>
              <a:srgbClr val="CBD6D8"/>
            </a:solidFill>
            <a:prstDash val="solid"/>
          </a:ln>
        </p:spPr>
      </p:sp>
      <p:sp>
        <p:nvSpPr>
          <p:cNvPr id="28" name="Rectangle 27">
            <a:extLst>
              <a:ext uri="{FF2B5EF4-FFF2-40B4-BE49-F238E27FC236}">
                <a16:creationId xmlns:a16="http://schemas.microsoft.com/office/drawing/2014/main" id="{28A90055-B98D-4D0E-9778-A68A812DBFA7}"/>
              </a:ext>
            </a:extLst>
          </p:cNvPr>
          <p:cNvSpPr>
            <a:spLocks noGrp="1"/>
          </p:cNvSpPr>
          <p:nvPr/>
        </p:nvSpPr>
        <p:spPr>
          <a:xfrm>
            <a:off x="3714750" y="3876675"/>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010</a:t>
            </a:r>
          </a:p>
        </p:txBody>
      </p:sp>
      <p:sp>
        <p:nvSpPr>
          <p:cNvPr id="29" name="Rectangle 28">
            <a:extLst>
              <a:ext uri="{FF2B5EF4-FFF2-40B4-BE49-F238E27FC236}">
                <a16:creationId xmlns:a16="http://schemas.microsoft.com/office/drawing/2014/main" id="{B16B61F5-5ED1-4CFC-B053-62814CE32927}"/>
              </a:ext>
            </a:extLst>
          </p:cNvPr>
          <p:cNvSpPr>
            <a:spLocks noGrp="1"/>
          </p:cNvSpPr>
          <p:nvPr/>
        </p:nvSpPr>
        <p:spPr>
          <a:xfrm>
            <a:off x="6667500" y="3838575"/>
            <a:ext cx="2476500" cy="581025"/>
          </a:xfrm>
          <a:prstGeom prst="rect">
            <a:avLst/>
          </a:prstGeom>
          <a:solidFill>
            <a:srgbClr val="FFFFFF"/>
          </a:solidFill>
          <a:ln w="9525">
            <a:solidFill>
              <a:srgbClr val="CBD6D8"/>
            </a:solidFill>
            <a:prstDash val="solid"/>
          </a:ln>
        </p:spPr>
      </p:sp>
      <p:sp>
        <p:nvSpPr>
          <p:cNvPr id="30" name="Rectangle 29">
            <a:extLst>
              <a:ext uri="{FF2B5EF4-FFF2-40B4-BE49-F238E27FC236}">
                <a16:creationId xmlns:a16="http://schemas.microsoft.com/office/drawing/2014/main" id="{CCB4E2F0-CE9B-4312-B545-C35F4E768835}"/>
              </a:ext>
            </a:extLst>
          </p:cNvPr>
          <p:cNvSpPr>
            <a:spLocks noGrp="1"/>
          </p:cNvSpPr>
          <p:nvPr/>
        </p:nvSpPr>
        <p:spPr>
          <a:xfrm>
            <a:off x="6762750" y="3876675"/>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011</a:t>
            </a:r>
          </a:p>
        </p:txBody>
      </p:sp>
      <p:sp>
        <p:nvSpPr>
          <p:cNvPr id="31" name="Rectangle 30">
            <a:extLst>
              <a:ext uri="{FF2B5EF4-FFF2-40B4-BE49-F238E27FC236}">
                <a16:creationId xmlns:a16="http://schemas.microsoft.com/office/drawing/2014/main" id="{7ED4408D-FCFA-4AD1-B5BF-7A49E93FA878}"/>
              </a:ext>
            </a:extLst>
          </p:cNvPr>
          <p:cNvSpPr>
            <a:spLocks noGrp="1"/>
          </p:cNvSpPr>
          <p:nvPr/>
        </p:nvSpPr>
        <p:spPr>
          <a:xfrm>
            <a:off x="1047750" y="4419600"/>
            <a:ext cx="2000250" cy="581025"/>
          </a:xfrm>
          <a:prstGeom prst="rect">
            <a:avLst/>
          </a:prstGeom>
          <a:solidFill>
            <a:srgbClr val="E7EFF0"/>
          </a:solidFill>
          <a:ln w="9525">
            <a:solidFill>
              <a:srgbClr val="CBD6D8"/>
            </a:solidFill>
            <a:prstDash val="solid"/>
          </a:ln>
        </p:spPr>
      </p:sp>
      <p:sp>
        <p:nvSpPr>
          <p:cNvPr id="32" name="Rectangle 31">
            <a:extLst>
              <a:ext uri="{FF2B5EF4-FFF2-40B4-BE49-F238E27FC236}">
                <a16:creationId xmlns:a16="http://schemas.microsoft.com/office/drawing/2014/main" id="{F1BCD359-06E7-4C1F-B384-BE88374E6A6B}"/>
              </a:ext>
            </a:extLst>
          </p:cNvPr>
          <p:cNvSpPr>
            <a:spLocks noGrp="1"/>
          </p:cNvSpPr>
          <p:nvPr/>
        </p:nvSpPr>
        <p:spPr>
          <a:xfrm>
            <a:off x="1143000" y="4457700"/>
            <a:ext cx="1809750" cy="504825"/>
          </a:xfrm>
          <a:prstGeom prst="rect">
            <a:avLst/>
          </a:prstGeom>
          <a:noFill/>
          <a:ln w="0">
            <a:noFill/>
            <a:prstDash val="solid"/>
          </a:ln>
        </p:spPr>
        <p:txBody>
          <a:bodyPr anchor="ctr"/>
          <a:lstStyle>
            <a:defPPr algn="ctr">
              <a:defRPr sz="1800" b="0">
                <a:solidFill>
                  <a:srgbClr val="203746"/>
                </a:solidFill>
              </a:defRPr>
            </a:defPPr>
          </a:lstStyle>
          <a:p>
            <a:pPr algn="ctr">
              <a:defRPr sz="1800" b="0">
                <a:solidFill>
                  <a:srgbClr val="203746"/>
                </a:solidFill>
              </a:defRPr>
            </a:pPr>
            <a:r>
              <a:rPr sz="1800" b="0">
                <a:solidFill>
                  <a:srgbClr val="203746"/>
                </a:solidFill>
              </a:rPr>
              <a:t>3</a:t>
            </a:r>
          </a:p>
        </p:txBody>
      </p:sp>
      <p:sp>
        <p:nvSpPr>
          <p:cNvPr id="33" name="Rectangle 32">
            <a:extLst>
              <a:ext uri="{FF2B5EF4-FFF2-40B4-BE49-F238E27FC236}">
                <a16:creationId xmlns:a16="http://schemas.microsoft.com/office/drawing/2014/main" id="{3F0A279A-4D28-4C8D-8273-43CD3C6C1F4F}"/>
              </a:ext>
            </a:extLst>
          </p:cNvPr>
          <p:cNvSpPr>
            <a:spLocks noGrp="1"/>
          </p:cNvSpPr>
          <p:nvPr/>
        </p:nvSpPr>
        <p:spPr>
          <a:xfrm>
            <a:off x="3619500" y="4419600"/>
            <a:ext cx="2476500" cy="581025"/>
          </a:xfrm>
          <a:prstGeom prst="rect">
            <a:avLst/>
          </a:prstGeom>
          <a:solidFill>
            <a:srgbClr val="E7EFF0"/>
          </a:solidFill>
          <a:ln w="9525">
            <a:solidFill>
              <a:srgbClr val="CBD6D8"/>
            </a:solidFill>
            <a:prstDash val="solid"/>
          </a:ln>
        </p:spPr>
      </p:sp>
      <p:sp>
        <p:nvSpPr>
          <p:cNvPr id="34" name="Rectangle 33">
            <a:extLst>
              <a:ext uri="{FF2B5EF4-FFF2-40B4-BE49-F238E27FC236}">
                <a16:creationId xmlns:a16="http://schemas.microsoft.com/office/drawing/2014/main" id="{3911740B-C84A-4DE9-829A-270AF900B164}"/>
              </a:ext>
            </a:extLst>
          </p:cNvPr>
          <p:cNvSpPr>
            <a:spLocks noGrp="1"/>
          </p:cNvSpPr>
          <p:nvPr/>
        </p:nvSpPr>
        <p:spPr>
          <a:xfrm>
            <a:off x="3714750" y="4457700"/>
            <a:ext cx="2286000" cy="504825"/>
          </a:xfrm>
          <a:prstGeom prst="rect">
            <a:avLst/>
          </a:prstGeom>
          <a:noFill/>
          <a:ln w="0">
            <a:noFill/>
            <a:prstDash val="solid"/>
          </a:ln>
        </p:spPr>
        <p:txBody>
          <a:bodyPr anchor="ctr"/>
          <a:lstStyle>
            <a:defPPr algn="ctr">
              <a:defRPr sz="1800" b="1">
                <a:solidFill>
                  <a:srgbClr val="203746"/>
                </a:solidFill>
              </a:defRPr>
            </a:defPPr>
          </a:lstStyle>
          <a:p>
            <a:pPr algn="ctr">
              <a:defRPr sz="1800" b="1">
                <a:solidFill>
                  <a:srgbClr val="203746"/>
                </a:solidFill>
              </a:defRPr>
            </a:pPr>
            <a:r>
              <a:rPr sz="1800" b="1">
                <a:solidFill>
                  <a:srgbClr val="203746"/>
                </a:solidFill>
              </a:rPr>
              <a:t>011</a:t>
            </a:r>
          </a:p>
        </p:txBody>
      </p:sp>
      <p:sp>
        <p:nvSpPr>
          <p:cNvPr id="35" name="Rectangle 34">
            <a:extLst>
              <a:ext uri="{FF2B5EF4-FFF2-40B4-BE49-F238E27FC236}">
                <a16:creationId xmlns:a16="http://schemas.microsoft.com/office/drawing/2014/main" id="{C95C3BE3-E5FB-4504-AF50-44B7F7A2755C}"/>
              </a:ext>
            </a:extLst>
          </p:cNvPr>
          <p:cNvSpPr>
            <a:spLocks noGrp="1"/>
          </p:cNvSpPr>
          <p:nvPr/>
        </p:nvSpPr>
        <p:spPr>
          <a:xfrm>
            <a:off x="6667500" y="4419600"/>
            <a:ext cx="2476500" cy="581025"/>
          </a:xfrm>
          <a:prstGeom prst="rect">
            <a:avLst/>
          </a:prstGeom>
          <a:solidFill>
            <a:srgbClr val="E7EFF0"/>
          </a:solidFill>
          <a:ln w="9525">
            <a:solidFill>
              <a:srgbClr val="CBD6D8"/>
            </a:solidFill>
            <a:prstDash val="solid"/>
          </a:ln>
        </p:spPr>
      </p:sp>
      <p:sp>
        <p:nvSpPr>
          <p:cNvPr id="36" name="Rectangle 35">
            <a:extLst>
              <a:ext uri="{FF2B5EF4-FFF2-40B4-BE49-F238E27FC236}">
                <a16:creationId xmlns:a16="http://schemas.microsoft.com/office/drawing/2014/main" id="{AB8D1CA0-93CE-476D-84DB-C6E80EF8FD97}"/>
              </a:ext>
            </a:extLst>
          </p:cNvPr>
          <p:cNvSpPr>
            <a:spLocks noGrp="1"/>
          </p:cNvSpPr>
          <p:nvPr/>
        </p:nvSpPr>
        <p:spPr>
          <a:xfrm>
            <a:off x="6762750" y="4457700"/>
            <a:ext cx="2286000" cy="504825"/>
          </a:xfrm>
          <a:prstGeom prst="rect">
            <a:avLst/>
          </a:prstGeom>
          <a:noFill/>
          <a:ln w="0">
            <a:noFill/>
            <a:prstDash val="solid"/>
          </a:ln>
        </p:spPr>
        <p:txBody>
          <a:bodyPr anchor="ctr"/>
          <a:lstStyle>
            <a:defPPr algn="ctr">
              <a:defRPr sz="1800" b="1">
                <a:solidFill>
                  <a:srgbClr val="0E7C86"/>
                </a:solidFill>
              </a:defRPr>
            </a:defPPr>
          </a:lstStyle>
          <a:p>
            <a:pPr algn="ctr">
              <a:defRPr sz="1800" b="1">
                <a:solidFill>
                  <a:srgbClr val="0E7C86"/>
                </a:solidFill>
              </a:defRPr>
            </a:pPr>
            <a:r>
              <a:rPr sz="1800" b="1">
                <a:solidFill>
                  <a:srgbClr val="0E7C86"/>
                </a:solidFill>
              </a:rPr>
              <a:t>010</a:t>
            </a:r>
          </a:p>
        </p:txBody>
      </p:sp>
      <p:sp>
        <p:nvSpPr>
          <p:cNvPr id="37" name="Rectangle 36">
            <a:extLst>
              <a:ext uri="{FF2B5EF4-FFF2-40B4-BE49-F238E27FC236}">
                <a16:creationId xmlns:a16="http://schemas.microsoft.com/office/drawing/2014/main" id="{2EF7238C-0101-44B2-ABBD-DDBD00CB5023}"/>
              </a:ext>
            </a:extLst>
          </p:cNvPr>
          <p:cNvSpPr>
            <a:spLocks noGrp="1"/>
          </p:cNvSpPr>
          <p:nvPr/>
        </p:nvSpPr>
        <p:spPr>
          <a:xfrm>
            <a:off x="1047750" y="5391150"/>
            <a:ext cx="9620250" cy="514350"/>
          </a:xfrm>
          <a:prstGeom prst="rect">
            <a:avLst/>
          </a:prstGeom>
          <a:noFill/>
          <a:ln w="0">
            <a:noFill/>
            <a:prstDash val="solid"/>
          </a:ln>
        </p:spPr>
        <p:txBody>
          <a:bodyPr anchor="ctr"/>
          <a:lstStyle>
            <a:defPPr algn="l">
              <a:defRPr sz="1725" b="1">
                <a:solidFill>
                  <a:srgbClr val="142B3B"/>
                </a:solidFill>
              </a:defRPr>
            </a:defPPr>
          </a:lstStyle>
          <a:p>
            <a:pPr algn="l">
              <a:defRPr sz="1725" b="1">
                <a:solidFill>
                  <a:srgbClr val="142B3B"/>
                </a:solidFill>
              </a:defRPr>
            </a:pPr>
            <a:r>
              <a:rPr sz="1725" b="1">
                <a:solidFill>
                  <a:srgbClr val="142B3B"/>
                </a:solidFill>
              </a:rPr>
              <a:t>Adjacent Gray values differ in one bit. That single rule defines the code.</a:t>
            </a:r>
          </a:p>
        </p:txBody>
      </p:sp>
    </p:spTree>
    <p:extLst>
      <p:ext uri="{BB962C8B-B14F-4D97-AF65-F5344CB8AC3E}">
        <p14:creationId xmlns:p14="http://schemas.microsoft.com/office/powerpoint/2010/main" val="98479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EFCB9FC-F2DE-482E-8DE0-19101E32B161}"/>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A85601E9-F1F5-4C1F-ADC6-02914C896FB4}"/>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PROJECT OBJECTIVE AND SCOPE</a:t>
            </a:r>
          </a:p>
        </p:txBody>
      </p:sp>
      <p:sp>
        <p:nvSpPr>
          <p:cNvPr id="3" name="Straight Connector 2">
            <a:extLst>
              <a:ext uri="{FF2B5EF4-FFF2-40B4-BE49-F238E27FC236}">
                <a16:creationId xmlns:a16="http://schemas.microsoft.com/office/drawing/2014/main" id="{FC8AED8A-E86D-456C-BD32-9C7281BF6E18}"/>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80ED9C4E-A3B2-4C9C-AEDC-2C6D991AEADC}"/>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AEF7265A-505D-4185-A352-853FFE2FBDFB}"/>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2   |   05</a:t>
            </a:r>
          </a:p>
        </p:txBody>
      </p:sp>
      <p:sp>
        <p:nvSpPr>
          <p:cNvPr id="6" name="Rectangle 5">
            <a:extLst>
              <a:ext uri="{FF2B5EF4-FFF2-40B4-BE49-F238E27FC236}">
                <a16:creationId xmlns:a16="http://schemas.microsoft.com/office/drawing/2014/main" id="{77463551-3F1E-4764-AF0F-9DA7DF7B508F}"/>
              </a:ext>
            </a:extLst>
          </p:cNvPr>
          <p:cNvSpPr>
            <a:spLocks noGrp="1"/>
          </p:cNvSpPr>
          <p:nvPr/>
        </p:nvSpPr>
        <p:spPr>
          <a:xfrm>
            <a:off x="723900" y="1333500"/>
            <a:ext cx="6191250" cy="400050"/>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WHAT THE CONVERTER DOES</a:t>
            </a:r>
          </a:p>
        </p:txBody>
      </p:sp>
      <p:sp>
        <p:nvSpPr>
          <p:cNvPr id="7" name="Rectangle 6">
            <a:extLst>
              <a:ext uri="{FF2B5EF4-FFF2-40B4-BE49-F238E27FC236}">
                <a16:creationId xmlns:a16="http://schemas.microsoft.com/office/drawing/2014/main" id="{19753F34-4B9C-4B69-9280-5FCE173F77A7}"/>
              </a:ext>
            </a:extLst>
          </p:cNvPr>
          <p:cNvSpPr>
            <a:spLocks noGrp="1"/>
          </p:cNvSpPr>
          <p:nvPr/>
        </p:nvSpPr>
        <p:spPr>
          <a:xfrm>
            <a:off x="723900" y="1847850"/>
            <a:ext cx="7239000" cy="857250"/>
          </a:xfrm>
          <a:prstGeom prst="rect">
            <a:avLst/>
          </a:prstGeom>
          <a:noFill/>
          <a:ln w="0">
            <a:noFill/>
            <a:prstDash val="solid"/>
          </a:ln>
        </p:spPr>
        <p:txBody>
          <a:bodyPr anchor="ctr"/>
          <a:lstStyle>
            <a:defPPr algn="l">
              <a:defRPr sz="2175" b="1">
                <a:solidFill>
                  <a:srgbClr val="142B3B"/>
                </a:solidFill>
              </a:defRPr>
            </a:defPPr>
          </a:lstStyle>
          <a:p>
            <a:pPr algn="l">
              <a:defRPr sz="2175" b="1">
                <a:solidFill>
                  <a:srgbClr val="142B3B"/>
                </a:solidFill>
              </a:defRPr>
            </a:pPr>
            <a:r>
              <a:rPr sz="2175" b="1">
                <a:solidFill>
                  <a:srgbClr val="142B3B"/>
                </a:solidFill>
              </a:rPr>
              <a:t>Takes a 4-bit Gray input and produces the equivalent 4-bit binary value.</a:t>
            </a:r>
          </a:p>
        </p:txBody>
      </p:sp>
      <p:sp>
        <p:nvSpPr>
          <p:cNvPr id="8" name="Rectangle: Rounded Corners 7">
            <a:extLst>
              <a:ext uri="{FF2B5EF4-FFF2-40B4-BE49-F238E27FC236}">
                <a16:creationId xmlns:a16="http://schemas.microsoft.com/office/drawing/2014/main" id="{EEC65791-CA66-4C43-93D5-74C5BB58CA03}"/>
              </a:ext>
            </a:extLst>
          </p:cNvPr>
          <p:cNvSpPr>
            <a:spLocks noGrp="1"/>
          </p:cNvSpPr>
          <p:nvPr/>
        </p:nvSpPr>
        <p:spPr>
          <a:xfrm>
            <a:off x="704850" y="3486150"/>
            <a:ext cx="3219450" cy="1314450"/>
          </a:xfrm>
          <a:prstGeom prst="roundRect">
            <a:avLst>
              <a:gd name="adj" fmla="val 5797"/>
            </a:avLst>
          </a:prstGeom>
          <a:solidFill>
            <a:srgbClr val="E7EFF0"/>
          </a:solidFill>
          <a:ln w="0">
            <a:noFill/>
            <a:prstDash val="solid"/>
          </a:ln>
        </p:spPr>
      </p:sp>
      <p:sp>
        <p:nvSpPr>
          <p:cNvPr id="9" name="Rectangle 8">
            <a:extLst>
              <a:ext uri="{FF2B5EF4-FFF2-40B4-BE49-F238E27FC236}">
                <a16:creationId xmlns:a16="http://schemas.microsoft.com/office/drawing/2014/main" id="{6433C70A-3FF9-4CBA-934D-38B2870109B5}"/>
              </a:ext>
            </a:extLst>
          </p:cNvPr>
          <p:cNvSpPr>
            <a:spLocks noGrp="1"/>
          </p:cNvSpPr>
          <p:nvPr/>
        </p:nvSpPr>
        <p:spPr>
          <a:xfrm>
            <a:off x="914400" y="3638550"/>
            <a:ext cx="2762250" cy="266700"/>
          </a:xfrm>
          <a:prstGeom prst="rect">
            <a:avLst/>
          </a:prstGeom>
          <a:noFill/>
          <a:ln w="0">
            <a:noFill/>
            <a:prstDash val="solid"/>
          </a:ln>
        </p:spPr>
        <p:txBody>
          <a:bodyPr anchor="ctr"/>
          <a:lstStyle>
            <a:defPPr algn="l">
              <a:defRPr sz="1125" b="1">
                <a:solidFill>
                  <a:srgbClr val="0E7C86"/>
                </a:solidFill>
              </a:defRPr>
            </a:defPPr>
          </a:lstStyle>
          <a:p>
            <a:pPr algn="l">
              <a:defRPr sz="1125" b="1">
                <a:solidFill>
                  <a:srgbClr val="0E7C86"/>
                </a:solidFill>
              </a:defRPr>
            </a:pPr>
            <a:r>
              <a:rPr sz="1125" b="1">
                <a:solidFill>
                  <a:srgbClr val="0E7C86"/>
                </a:solidFill>
              </a:rPr>
              <a:t>INPUT</a:t>
            </a:r>
          </a:p>
        </p:txBody>
      </p:sp>
      <p:sp>
        <p:nvSpPr>
          <p:cNvPr id="10" name="Rectangle 9">
            <a:extLst>
              <a:ext uri="{FF2B5EF4-FFF2-40B4-BE49-F238E27FC236}">
                <a16:creationId xmlns:a16="http://schemas.microsoft.com/office/drawing/2014/main" id="{DE3C1A79-4AFF-45FC-B698-D1743D8F8C39}"/>
              </a:ext>
            </a:extLst>
          </p:cNvPr>
          <p:cNvSpPr>
            <a:spLocks noGrp="1"/>
          </p:cNvSpPr>
          <p:nvPr/>
        </p:nvSpPr>
        <p:spPr>
          <a:xfrm>
            <a:off x="914400" y="4048125"/>
            <a:ext cx="2800350" cy="495300"/>
          </a:xfrm>
          <a:prstGeom prst="rect">
            <a:avLst/>
          </a:prstGeom>
          <a:noFill/>
          <a:ln w="0">
            <a:noFill/>
            <a:prstDash val="solid"/>
          </a:ln>
        </p:spPr>
        <p:txBody>
          <a:bodyPr anchor="ctr"/>
          <a:lstStyle>
            <a:defPPr algn="ctr">
              <a:defRPr sz="1650" b="1">
                <a:solidFill>
                  <a:srgbClr val="142B3B"/>
                </a:solidFill>
              </a:defRPr>
            </a:defPPr>
          </a:lstStyle>
          <a:p>
            <a:pPr algn="ctr">
              <a:defRPr sz="1650" b="1">
                <a:solidFill>
                  <a:srgbClr val="142B3B"/>
                </a:solidFill>
              </a:defRPr>
            </a:pPr>
            <a:r>
              <a:rPr sz="1650" b="1">
                <a:solidFill>
                  <a:srgbClr val="142B3B"/>
                </a:solidFill>
              </a:rPr>
              <a:t>G3  G2  G1  G0</a:t>
            </a:r>
          </a:p>
        </p:txBody>
      </p:sp>
      <p:sp>
        <p:nvSpPr>
          <p:cNvPr id="11" name="Rectangle 10">
            <a:extLst>
              <a:ext uri="{FF2B5EF4-FFF2-40B4-BE49-F238E27FC236}">
                <a16:creationId xmlns:a16="http://schemas.microsoft.com/office/drawing/2014/main" id="{83D4B96F-922F-4594-AF73-10ACBB76E394}"/>
              </a:ext>
            </a:extLst>
          </p:cNvPr>
          <p:cNvSpPr>
            <a:spLocks noGrp="1"/>
          </p:cNvSpPr>
          <p:nvPr/>
        </p:nvSpPr>
        <p:spPr>
          <a:xfrm>
            <a:off x="3943350" y="3876675"/>
            <a:ext cx="419100" cy="438150"/>
          </a:xfrm>
          <a:prstGeom prst="rect">
            <a:avLst/>
          </a:prstGeom>
          <a:noFill/>
          <a:ln w="0">
            <a:noFill/>
            <a:prstDash val="solid"/>
          </a:ln>
        </p:spPr>
        <p:txBody>
          <a:bodyPr anchor="ctr"/>
          <a:lstStyle>
            <a:defPPr algn="ctr">
              <a:defRPr sz="2400" b="1">
                <a:solidFill>
                  <a:srgbClr val="F2A65A"/>
                </a:solidFill>
              </a:defRPr>
            </a:defPPr>
          </a:lstStyle>
          <a:p>
            <a:pPr algn="ctr">
              <a:defRPr sz="2400" b="1">
                <a:solidFill>
                  <a:srgbClr val="F2A65A"/>
                </a:solidFill>
              </a:defRPr>
            </a:pPr>
            <a:r>
              <a:rPr sz="2400" b="1">
                <a:solidFill>
                  <a:srgbClr val="F2A65A"/>
                </a:solidFill>
              </a:rPr>
              <a:t>→</a:t>
            </a:r>
          </a:p>
        </p:txBody>
      </p:sp>
      <p:sp>
        <p:nvSpPr>
          <p:cNvPr id="12" name="Rectangle: Rounded Corners 11">
            <a:extLst>
              <a:ext uri="{FF2B5EF4-FFF2-40B4-BE49-F238E27FC236}">
                <a16:creationId xmlns:a16="http://schemas.microsoft.com/office/drawing/2014/main" id="{0ECB135A-584F-4108-97CB-F61A644C0E51}"/>
              </a:ext>
            </a:extLst>
          </p:cNvPr>
          <p:cNvSpPr>
            <a:spLocks noGrp="1"/>
          </p:cNvSpPr>
          <p:nvPr/>
        </p:nvSpPr>
        <p:spPr>
          <a:xfrm>
            <a:off x="4371975" y="3486150"/>
            <a:ext cx="3219450" cy="1314450"/>
          </a:xfrm>
          <a:prstGeom prst="roundRect">
            <a:avLst>
              <a:gd name="adj" fmla="val 5797"/>
            </a:avLst>
          </a:prstGeom>
          <a:solidFill>
            <a:srgbClr val="142B3B"/>
          </a:solidFill>
          <a:ln w="0">
            <a:noFill/>
            <a:prstDash val="solid"/>
          </a:ln>
        </p:spPr>
      </p:sp>
      <p:sp>
        <p:nvSpPr>
          <p:cNvPr id="13" name="Rectangle 12">
            <a:extLst>
              <a:ext uri="{FF2B5EF4-FFF2-40B4-BE49-F238E27FC236}">
                <a16:creationId xmlns:a16="http://schemas.microsoft.com/office/drawing/2014/main" id="{8DB8E1F5-F4CC-4217-B57B-8BB36CA8E511}"/>
              </a:ext>
            </a:extLst>
          </p:cNvPr>
          <p:cNvSpPr>
            <a:spLocks noGrp="1"/>
          </p:cNvSpPr>
          <p:nvPr/>
        </p:nvSpPr>
        <p:spPr>
          <a:xfrm>
            <a:off x="4581525" y="3638550"/>
            <a:ext cx="2762250" cy="266700"/>
          </a:xfrm>
          <a:prstGeom prst="rect">
            <a:avLst/>
          </a:prstGeom>
          <a:noFill/>
          <a:ln w="0">
            <a:noFill/>
            <a:prstDash val="solid"/>
          </a:ln>
        </p:spPr>
        <p:txBody>
          <a:bodyPr anchor="ctr"/>
          <a:lstStyle>
            <a:defPPr algn="l">
              <a:defRPr sz="1125" b="1">
                <a:solidFill>
                  <a:srgbClr val="BDE5E1"/>
                </a:solidFill>
              </a:defRPr>
            </a:defPPr>
          </a:lstStyle>
          <a:p>
            <a:pPr algn="l">
              <a:defRPr sz="1125" b="1">
                <a:solidFill>
                  <a:srgbClr val="BDE5E1"/>
                </a:solidFill>
              </a:defRPr>
            </a:pPr>
            <a:r>
              <a:rPr sz="1125" b="1">
                <a:solidFill>
                  <a:srgbClr val="BDE5E1"/>
                </a:solidFill>
              </a:rPr>
              <a:t>PROCESS</a:t>
            </a:r>
          </a:p>
        </p:txBody>
      </p:sp>
      <p:sp>
        <p:nvSpPr>
          <p:cNvPr id="14" name="Rectangle 13">
            <a:extLst>
              <a:ext uri="{FF2B5EF4-FFF2-40B4-BE49-F238E27FC236}">
                <a16:creationId xmlns:a16="http://schemas.microsoft.com/office/drawing/2014/main" id="{AF6C3CDB-306D-45F6-ABB1-5D476D35D9C9}"/>
              </a:ext>
            </a:extLst>
          </p:cNvPr>
          <p:cNvSpPr>
            <a:spLocks noGrp="1"/>
          </p:cNvSpPr>
          <p:nvPr/>
        </p:nvSpPr>
        <p:spPr>
          <a:xfrm>
            <a:off x="4581525" y="4048125"/>
            <a:ext cx="2800350" cy="495300"/>
          </a:xfrm>
          <a:prstGeom prst="rect">
            <a:avLst/>
          </a:prstGeom>
          <a:noFill/>
          <a:ln w="0">
            <a:noFill/>
            <a:prstDash val="solid"/>
          </a:ln>
        </p:spPr>
        <p:txBody>
          <a:bodyPr anchor="ctr"/>
          <a:lstStyle>
            <a:defPPr algn="ctr">
              <a:defRPr sz="1650" b="1">
                <a:solidFill>
                  <a:srgbClr val="FFFFFF"/>
                </a:solidFill>
              </a:defRPr>
            </a:defPPr>
          </a:lstStyle>
          <a:p>
            <a:pPr algn="ctr">
              <a:defRPr sz="1650" b="1">
                <a:solidFill>
                  <a:srgbClr val="FFFFFF"/>
                </a:solidFill>
              </a:defRPr>
            </a:pPr>
            <a:r>
              <a:rPr sz="1650" b="1">
                <a:solidFill>
                  <a:srgbClr val="FFFFFF"/>
                </a:solidFill>
              </a:rPr>
              <a:t>Direct MSB + 3 XOR stages</a:t>
            </a:r>
          </a:p>
        </p:txBody>
      </p:sp>
      <p:sp>
        <p:nvSpPr>
          <p:cNvPr id="15" name="Rectangle 14">
            <a:extLst>
              <a:ext uri="{FF2B5EF4-FFF2-40B4-BE49-F238E27FC236}">
                <a16:creationId xmlns:a16="http://schemas.microsoft.com/office/drawing/2014/main" id="{D03289D0-2277-4AF6-9A45-EAFAFE2F23D4}"/>
              </a:ext>
            </a:extLst>
          </p:cNvPr>
          <p:cNvSpPr>
            <a:spLocks noGrp="1"/>
          </p:cNvSpPr>
          <p:nvPr/>
        </p:nvSpPr>
        <p:spPr>
          <a:xfrm>
            <a:off x="7610475" y="3876675"/>
            <a:ext cx="419100" cy="438150"/>
          </a:xfrm>
          <a:prstGeom prst="rect">
            <a:avLst/>
          </a:prstGeom>
          <a:noFill/>
          <a:ln w="0">
            <a:noFill/>
            <a:prstDash val="solid"/>
          </a:ln>
        </p:spPr>
        <p:txBody>
          <a:bodyPr anchor="ctr"/>
          <a:lstStyle>
            <a:defPPr algn="ctr">
              <a:defRPr sz="2400" b="1">
                <a:solidFill>
                  <a:srgbClr val="F2A65A"/>
                </a:solidFill>
              </a:defRPr>
            </a:defPPr>
          </a:lstStyle>
          <a:p>
            <a:pPr algn="ctr">
              <a:defRPr sz="2400" b="1">
                <a:solidFill>
                  <a:srgbClr val="F2A65A"/>
                </a:solidFill>
              </a:defRPr>
            </a:pPr>
            <a:r>
              <a:rPr sz="2400" b="1">
                <a:solidFill>
                  <a:srgbClr val="F2A65A"/>
                </a:solidFill>
              </a:rPr>
              <a:t>→</a:t>
            </a:r>
          </a:p>
        </p:txBody>
      </p:sp>
      <p:sp>
        <p:nvSpPr>
          <p:cNvPr id="16" name="Rectangle: Rounded Corners 15">
            <a:extLst>
              <a:ext uri="{FF2B5EF4-FFF2-40B4-BE49-F238E27FC236}">
                <a16:creationId xmlns:a16="http://schemas.microsoft.com/office/drawing/2014/main" id="{6BBED127-11D7-4B29-9643-57980AACC3E3}"/>
              </a:ext>
            </a:extLst>
          </p:cNvPr>
          <p:cNvSpPr>
            <a:spLocks noGrp="1"/>
          </p:cNvSpPr>
          <p:nvPr/>
        </p:nvSpPr>
        <p:spPr>
          <a:xfrm>
            <a:off x="8039100" y="3486150"/>
            <a:ext cx="3219450" cy="1314450"/>
          </a:xfrm>
          <a:prstGeom prst="roundRect">
            <a:avLst>
              <a:gd name="adj" fmla="val 5797"/>
            </a:avLst>
          </a:prstGeom>
          <a:solidFill>
            <a:srgbClr val="E7EFF0"/>
          </a:solidFill>
          <a:ln w="0">
            <a:noFill/>
            <a:prstDash val="solid"/>
          </a:ln>
        </p:spPr>
      </p:sp>
      <p:sp>
        <p:nvSpPr>
          <p:cNvPr id="17" name="Rectangle 16">
            <a:extLst>
              <a:ext uri="{FF2B5EF4-FFF2-40B4-BE49-F238E27FC236}">
                <a16:creationId xmlns:a16="http://schemas.microsoft.com/office/drawing/2014/main" id="{6FC3549A-A26C-477C-BE14-10F1CE36B70A}"/>
              </a:ext>
            </a:extLst>
          </p:cNvPr>
          <p:cNvSpPr>
            <a:spLocks noGrp="1"/>
          </p:cNvSpPr>
          <p:nvPr/>
        </p:nvSpPr>
        <p:spPr>
          <a:xfrm>
            <a:off x="8248650" y="3638550"/>
            <a:ext cx="2762250" cy="266700"/>
          </a:xfrm>
          <a:prstGeom prst="rect">
            <a:avLst/>
          </a:prstGeom>
          <a:noFill/>
          <a:ln w="0">
            <a:noFill/>
            <a:prstDash val="solid"/>
          </a:ln>
        </p:spPr>
        <p:txBody>
          <a:bodyPr anchor="ctr"/>
          <a:lstStyle>
            <a:defPPr algn="l">
              <a:defRPr sz="1125" b="1">
                <a:solidFill>
                  <a:srgbClr val="0E7C86"/>
                </a:solidFill>
              </a:defRPr>
            </a:defPPr>
          </a:lstStyle>
          <a:p>
            <a:pPr algn="l">
              <a:defRPr sz="1125" b="1">
                <a:solidFill>
                  <a:srgbClr val="0E7C86"/>
                </a:solidFill>
              </a:defRPr>
            </a:pPr>
            <a:r>
              <a:rPr sz="1125" b="1">
                <a:solidFill>
                  <a:srgbClr val="0E7C86"/>
                </a:solidFill>
              </a:rPr>
              <a:t>OUTPUT</a:t>
            </a:r>
          </a:p>
        </p:txBody>
      </p:sp>
      <p:sp>
        <p:nvSpPr>
          <p:cNvPr id="18" name="Rectangle 17">
            <a:extLst>
              <a:ext uri="{FF2B5EF4-FFF2-40B4-BE49-F238E27FC236}">
                <a16:creationId xmlns:a16="http://schemas.microsoft.com/office/drawing/2014/main" id="{2F6DC502-8AC2-474D-8F52-F9FC392C2073}"/>
              </a:ext>
            </a:extLst>
          </p:cNvPr>
          <p:cNvSpPr>
            <a:spLocks noGrp="1"/>
          </p:cNvSpPr>
          <p:nvPr/>
        </p:nvSpPr>
        <p:spPr>
          <a:xfrm>
            <a:off x="8248650" y="4048125"/>
            <a:ext cx="2800350" cy="495300"/>
          </a:xfrm>
          <a:prstGeom prst="rect">
            <a:avLst/>
          </a:prstGeom>
          <a:noFill/>
          <a:ln w="0">
            <a:noFill/>
            <a:prstDash val="solid"/>
          </a:ln>
        </p:spPr>
        <p:txBody>
          <a:bodyPr anchor="ctr"/>
          <a:lstStyle>
            <a:defPPr algn="ctr">
              <a:defRPr sz="1650" b="1">
                <a:solidFill>
                  <a:srgbClr val="142B3B"/>
                </a:solidFill>
              </a:defRPr>
            </a:defPPr>
          </a:lstStyle>
          <a:p>
            <a:pPr algn="ctr">
              <a:defRPr sz="1650" b="1">
                <a:solidFill>
                  <a:srgbClr val="142B3B"/>
                </a:solidFill>
              </a:defRPr>
            </a:pPr>
            <a:r>
              <a:rPr sz="1650" b="1">
                <a:solidFill>
                  <a:srgbClr val="142B3B"/>
                </a:solidFill>
              </a:rPr>
              <a:t>B3  B2  B1  B0</a:t>
            </a:r>
          </a:p>
        </p:txBody>
      </p:sp>
      <p:sp>
        <p:nvSpPr>
          <p:cNvPr id="19" name="Rectangle 18">
            <a:extLst>
              <a:ext uri="{FF2B5EF4-FFF2-40B4-BE49-F238E27FC236}">
                <a16:creationId xmlns:a16="http://schemas.microsoft.com/office/drawing/2014/main" id="{F80FA63D-1CF2-4AF9-B07C-55EBC782507C}"/>
              </a:ext>
            </a:extLst>
          </p:cNvPr>
          <p:cNvSpPr>
            <a:spLocks noGrp="1"/>
          </p:cNvSpPr>
          <p:nvPr/>
        </p:nvSpPr>
        <p:spPr>
          <a:xfrm>
            <a:off x="723900" y="5372100"/>
            <a:ext cx="10382250" cy="400050"/>
          </a:xfrm>
          <a:prstGeom prst="rect">
            <a:avLst/>
          </a:prstGeom>
          <a:noFill/>
          <a:ln w="0">
            <a:noFill/>
            <a:prstDash val="solid"/>
          </a:ln>
        </p:spPr>
        <p:txBody>
          <a:bodyPr anchor="ctr"/>
          <a:lstStyle>
            <a:defPPr algn="l">
              <a:defRPr sz="1575" b="1">
                <a:solidFill>
                  <a:srgbClr val="5C707D"/>
                </a:solidFill>
              </a:defRPr>
            </a:defPPr>
          </a:lstStyle>
          <a:p>
            <a:pPr algn="l">
              <a:defRPr sz="1575" b="1">
                <a:solidFill>
                  <a:srgbClr val="5C707D"/>
                </a:solidFill>
              </a:defRPr>
            </a:pPr>
            <a:r>
              <a:rPr sz="1575" b="1">
                <a:solidFill>
                  <a:srgbClr val="5C707D"/>
                </a:solidFill>
              </a:rPr>
              <a:t>Combinational logic: the output depends on the current input only.</a:t>
            </a:r>
          </a:p>
        </p:txBody>
      </p:sp>
    </p:spTree>
    <p:extLst>
      <p:ext uri="{BB962C8B-B14F-4D97-AF65-F5344CB8AC3E}">
        <p14:creationId xmlns:p14="http://schemas.microsoft.com/office/powerpoint/2010/main" val="26706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C084893-9410-43E3-853D-96EBBA73127B}"/>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B350B0CA-10F2-4405-AD9A-62E8AEA18CA2}"/>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WHAT WE NEED TO BUILD</a:t>
            </a:r>
          </a:p>
        </p:txBody>
      </p:sp>
      <p:sp>
        <p:nvSpPr>
          <p:cNvPr id="3" name="Straight Connector 2">
            <a:extLst>
              <a:ext uri="{FF2B5EF4-FFF2-40B4-BE49-F238E27FC236}">
                <a16:creationId xmlns:a16="http://schemas.microsoft.com/office/drawing/2014/main" id="{61675149-E10F-4C9E-903B-3E25059C7A5E}"/>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5D85133F-2E9A-4491-9CC1-E6F4D7AFBA2E}"/>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78EFE803-2398-43A7-A3A0-BB30D068780F}"/>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2   |   06</a:t>
            </a:r>
          </a:p>
        </p:txBody>
      </p:sp>
      <p:sp>
        <p:nvSpPr>
          <p:cNvPr id="6" name="Rectangle 5">
            <a:extLst>
              <a:ext uri="{FF2B5EF4-FFF2-40B4-BE49-F238E27FC236}">
                <a16:creationId xmlns:a16="http://schemas.microsoft.com/office/drawing/2014/main" id="{E66CEFD4-48A2-425B-A58E-C822AAC634A9}"/>
              </a:ext>
            </a:extLst>
          </p:cNvPr>
          <p:cNvSpPr>
            <a:spLocks noGrp="1"/>
          </p:cNvSpPr>
          <p:nvPr/>
        </p:nvSpPr>
        <p:spPr>
          <a:xfrm>
            <a:off x="714375" y="1371600"/>
            <a:ext cx="4476750" cy="361950"/>
          </a:xfrm>
          <a:prstGeom prst="rect">
            <a:avLst/>
          </a:prstGeom>
          <a:noFill/>
          <a:ln w="0">
            <a:noFill/>
            <a:prstDash val="solid"/>
          </a:ln>
        </p:spPr>
        <p:txBody>
          <a:bodyPr anchor="ctr"/>
          <a:lstStyle>
            <a:defPPr algn="l">
              <a:defRPr sz="1500" b="1">
                <a:solidFill>
                  <a:srgbClr val="0E7C86"/>
                </a:solidFill>
              </a:defRPr>
            </a:defPPr>
          </a:lstStyle>
          <a:p>
            <a:pPr algn="l">
              <a:defRPr sz="1500" b="1">
                <a:solidFill>
                  <a:srgbClr val="0E7C86"/>
                </a:solidFill>
              </a:defRPr>
            </a:pPr>
            <a:r>
              <a:rPr sz="1500" b="1">
                <a:solidFill>
                  <a:srgbClr val="0E7C86"/>
                </a:solidFill>
              </a:rPr>
              <a:t>DESIGN CHECKLIST</a:t>
            </a:r>
          </a:p>
        </p:txBody>
      </p:sp>
      <p:sp>
        <p:nvSpPr>
          <p:cNvPr id="7" name="Rectangle 6">
            <a:extLst>
              <a:ext uri="{FF2B5EF4-FFF2-40B4-BE49-F238E27FC236}">
                <a16:creationId xmlns:a16="http://schemas.microsoft.com/office/drawing/2014/main" id="{7F42C97F-3629-4DAA-85D3-473230B342AF}"/>
              </a:ext>
            </a:extLst>
          </p:cNvPr>
          <p:cNvSpPr>
            <a:spLocks noGrp="1"/>
          </p:cNvSpPr>
          <p:nvPr/>
        </p:nvSpPr>
        <p:spPr>
          <a:xfrm>
            <a:off x="876300" y="2076450"/>
            <a:ext cx="904875" cy="685800"/>
          </a:xfrm>
          <a:prstGeom prst="rect">
            <a:avLst/>
          </a:prstGeom>
          <a:noFill/>
          <a:ln w="0">
            <a:noFill/>
            <a:prstDash val="solid"/>
          </a:ln>
        </p:spPr>
        <p:txBody>
          <a:bodyPr anchor="ctr"/>
          <a:lstStyle>
            <a:defPPr algn="ctr">
              <a:defRPr sz="3750" b="1">
                <a:solidFill>
                  <a:srgbClr val="0E7C86"/>
                </a:solidFill>
              </a:defRPr>
            </a:defPPr>
          </a:lstStyle>
          <a:p>
            <a:pPr algn="ctr">
              <a:defRPr sz="3750" b="1">
                <a:solidFill>
                  <a:srgbClr val="0E7C86"/>
                </a:solidFill>
              </a:defRPr>
            </a:pPr>
            <a:r>
              <a:rPr sz="3750" b="1">
                <a:solidFill>
                  <a:srgbClr val="0E7C86"/>
                </a:solidFill>
              </a:rPr>
              <a:t>4</a:t>
            </a:r>
          </a:p>
        </p:txBody>
      </p:sp>
      <p:sp>
        <p:nvSpPr>
          <p:cNvPr id="8" name="Rectangle 7">
            <a:extLst>
              <a:ext uri="{FF2B5EF4-FFF2-40B4-BE49-F238E27FC236}">
                <a16:creationId xmlns:a16="http://schemas.microsoft.com/office/drawing/2014/main" id="{50FFB938-7449-4FBC-BBC6-3F7FA603A68C}"/>
              </a:ext>
            </a:extLst>
          </p:cNvPr>
          <p:cNvSpPr>
            <a:spLocks noGrp="1"/>
          </p:cNvSpPr>
          <p:nvPr/>
        </p:nvSpPr>
        <p:spPr>
          <a:xfrm>
            <a:off x="2095500" y="2190750"/>
            <a:ext cx="6858000" cy="476250"/>
          </a:xfrm>
          <a:prstGeom prst="rect">
            <a:avLst/>
          </a:prstGeom>
          <a:noFill/>
          <a:ln w="0">
            <a:noFill/>
            <a:prstDash val="solid"/>
          </a:ln>
        </p:spPr>
        <p:txBody>
          <a:bodyPr anchor="ctr"/>
          <a:lstStyle>
            <a:defPPr algn="l">
              <a:defRPr sz="1950" b="1">
                <a:solidFill>
                  <a:srgbClr val="142B3B"/>
                </a:solidFill>
              </a:defRPr>
            </a:defPPr>
          </a:lstStyle>
          <a:p>
            <a:pPr algn="l">
              <a:defRPr sz="1950" b="1">
                <a:solidFill>
                  <a:srgbClr val="142B3B"/>
                </a:solidFill>
              </a:defRPr>
            </a:pPr>
            <a:r>
              <a:rPr sz="1950" b="1">
                <a:solidFill>
                  <a:srgbClr val="142B3B"/>
                </a:solidFill>
              </a:rPr>
              <a:t>one-bit Gray input pins</a:t>
            </a:r>
          </a:p>
        </p:txBody>
      </p:sp>
      <p:sp>
        <p:nvSpPr>
          <p:cNvPr id="9" name="Straight Connector 8">
            <a:extLst>
              <a:ext uri="{FF2B5EF4-FFF2-40B4-BE49-F238E27FC236}">
                <a16:creationId xmlns:a16="http://schemas.microsoft.com/office/drawing/2014/main" id="{CDA1EB0F-E2AB-45C8-ACFF-D2D11AB66FA3}"/>
              </a:ext>
            </a:extLst>
          </p:cNvPr>
          <p:cNvSpPr>
            <a:spLocks noGrp="1"/>
          </p:cNvSpPr>
          <p:nvPr/>
        </p:nvSpPr>
        <p:spPr>
          <a:xfrm>
            <a:off x="2095500" y="2819400"/>
            <a:ext cx="8286750" cy="0"/>
          </a:xfrm>
          <a:prstGeom prst="line">
            <a:avLst/>
          </a:prstGeom>
          <a:noFill/>
          <a:ln w="9525">
            <a:solidFill>
              <a:srgbClr val="CBD6D8"/>
            </a:solidFill>
            <a:prstDash val="solid"/>
          </a:ln>
        </p:spPr>
      </p:sp>
      <p:sp>
        <p:nvSpPr>
          <p:cNvPr id="10" name="Rectangle 9">
            <a:extLst>
              <a:ext uri="{FF2B5EF4-FFF2-40B4-BE49-F238E27FC236}">
                <a16:creationId xmlns:a16="http://schemas.microsoft.com/office/drawing/2014/main" id="{FA2334ED-F15A-4DC4-9032-FCC7E4A45BC9}"/>
              </a:ext>
            </a:extLst>
          </p:cNvPr>
          <p:cNvSpPr>
            <a:spLocks noGrp="1"/>
          </p:cNvSpPr>
          <p:nvPr/>
        </p:nvSpPr>
        <p:spPr>
          <a:xfrm>
            <a:off x="876300" y="3143250"/>
            <a:ext cx="904875" cy="685800"/>
          </a:xfrm>
          <a:prstGeom prst="rect">
            <a:avLst/>
          </a:prstGeom>
          <a:noFill/>
          <a:ln w="0">
            <a:noFill/>
            <a:prstDash val="solid"/>
          </a:ln>
        </p:spPr>
        <p:txBody>
          <a:bodyPr anchor="ctr"/>
          <a:lstStyle>
            <a:defPPr algn="ctr">
              <a:defRPr sz="3750" b="1">
                <a:solidFill>
                  <a:srgbClr val="C96743"/>
                </a:solidFill>
              </a:defRPr>
            </a:defPPr>
          </a:lstStyle>
          <a:p>
            <a:pPr algn="ctr">
              <a:defRPr sz="3750" b="1">
                <a:solidFill>
                  <a:srgbClr val="C96743"/>
                </a:solidFill>
              </a:defRPr>
            </a:pPr>
            <a:r>
              <a:rPr sz="3750" b="1">
                <a:solidFill>
                  <a:srgbClr val="C96743"/>
                </a:solidFill>
              </a:rPr>
              <a:t>3</a:t>
            </a:r>
          </a:p>
        </p:txBody>
      </p:sp>
      <p:sp>
        <p:nvSpPr>
          <p:cNvPr id="11" name="Rectangle 10">
            <a:extLst>
              <a:ext uri="{FF2B5EF4-FFF2-40B4-BE49-F238E27FC236}">
                <a16:creationId xmlns:a16="http://schemas.microsoft.com/office/drawing/2014/main" id="{6D247FF0-21D2-425C-90D3-1A5EAD8D146D}"/>
              </a:ext>
            </a:extLst>
          </p:cNvPr>
          <p:cNvSpPr>
            <a:spLocks noGrp="1"/>
          </p:cNvSpPr>
          <p:nvPr/>
        </p:nvSpPr>
        <p:spPr>
          <a:xfrm>
            <a:off x="2095500" y="3257550"/>
            <a:ext cx="6858000" cy="476250"/>
          </a:xfrm>
          <a:prstGeom prst="rect">
            <a:avLst/>
          </a:prstGeom>
          <a:noFill/>
          <a:ln w="0">
            <a:noFill/>
            <a:prstDash val="solid"/>
          </a:ln>
        </p:spPr>
        <p:txBody>
          <a:bodyPr anchor="ctr"/>
          <a:lstStyle>
            <a:defPPr algn="l">
              <a:defRPr sz="1950" b="1">
                <a:solidFill>
                  <a:srgbClr val="142B3B"/>
                </a:solidFill>
              </a:defRPr>
            </a:defPPr>
          </a:lstStyle>
          <a:p>
            <a:pPr algn="l">
              <a:defRPr sz="1950" b="1">
                <a:solidFill>
                  <a:srgbClr val="142B3B"/>
                </a:solidFill>
              </a:defRPr>
            </a:pPr>
            <a:r>
              <a:rPr sz="1950" b="1">
                <a:solidFill>
                  <a:srgbClr val="142B3B"/>
                </a:solidFill>
              </a:rPr>
              <a:t>two-input XOR gates</a:t>
            </a:r>
          </a:p>
        </p:txBody>
      </p:sp>
      <p:sp>
        <p:nvSpPr>
          <p:cNvPr id="12" name="Straight Connector 11">
            <a:extLst>
              <a:ext uri="{FF2B5EF4-FFF2-40B4-BE49-F238E27FC236}">
                <a16:creationId xmlns:a16="http://schemas.microsoft.com/office/drawing/2014/main" id="{D7E2145E-E432-4DFC-878E-995FCB3463A3}"/>
              </a:ext>
            </a:extLst>
          </p:cNvPr>
          <p:cNvSpPr>
            <a:spLocks noGrp="1"/>
          </p:cNvSpPr>
          <p:nvPr/>
        </p:nvSpPr>
        <p:spPr>
          <a:xfrm>
            <a:off x="2095500" y="3886200"/>
            <a:ext cx="8286750" cy="0"/>
          </a:xfrm>
          <a:prstGeom prst="line">
            <a:avLst/>
          </a:prstGeom>
          <a:noFill/>
          <a:ln w="9525">
            <a:solidFill>
              <a:srgbClr val="CBD6D8"/>
            </a:solidFill>
            <a:prstDash val="solid"/>
          </a:ln>
        </p:spPr>
      </p:sp>
      <p:sp>
        <p:nvSpPr>
          <p:cNvPr id="13" name="Rectangle 12">
            <a:extLst>
              <a:ext uri="{FF2B5EF4-FFF2-40B4-BE49-F238E27FC236}">
                <a16:creationId xmlns:a16="http://schemas.microsoft.com/office/drawing/2014/main" id="{88DB3CD0-BE6D-4155-A198-4F3D98421BB4}"/>
              </a:ext>
            </a:extLst>
          </p:cNvPr>
          <p:cNvSpPr>
            <a:spLocks noGrp="1"/>
          </p:cNvSpPr>
          <p:nvPr/>
        </p:nvSpPr>
        <p:spPr>
          <a:xfrm>
            <a:off x="876300" y="4210050"/>
            <a:ext cx="904875" cy="685800"/>
          </a:xfrm>
          <a:prstGeom prst="rect">
            <a:avLst/>
          </a:prstGeom>
          <a:noFill/>
          <a:ln w="0">
            <a:noFill/>
            <a:prstDash val="solid"/>
          </a:ln>
        </p:spPr>
        <p:txBody>
          <a:bodyPr anchor="ctr"/>
          <a:lstStyle>
            <a:defPPr algn="ctr">
              <a:defRPr sz="3750" b="1">
                <a:solidFill>
                  <a:srgbClr val="0E7C86"/>
                </a:solidFill>
              </a:defRPr>
            </a:defPPr>
          </a:lstStyle>
          <a:p>
            <a:pPr algn="ctr">
              <a:defRPr sz="3750" b="1">
                <a:solidFill>
                  <a:srgbClr val="0E7C86"/>
                </a:solidFill>
              </a:defRPr>
            </a:pPr>
            <a:r>
              <a:rPr sz="3750" b="1">
                <a:solidFill>
                  <a:srgbClr val="0E7C86"/>
                </a:solidFill>
              </a:rPr>
              <a:t>4</a:t>
            </a:r>
          </a:p>
        </p:txBody>
      </p:sp>
      <p:sp>
        <p:nvSpPr>
          <p:cNvPr id="14" name="Rectangle 13">
            <a:extLst>
              <a:ext uri="{FF2B5EF4-FFF2-40B4-BE49-F238E27FC236}">
                <a16:creationId xmlns:a16="http://schemas.microsoft.com/office/drawing/2014/main" id="{56BFA153-3A5F-4A13-B713-9D01F3BB6852}"/>
              </a:ext>
            </a:extLst>
          </p:cNvPr>
          <p:cNvSpPr>
            <a:spLocks noGrp="1"/>
          </p:cNvSpPr>
          <p:nvPr/>
        </p:nvSpPr>
        <p:spPr>
          <a:xfrm>
            <a:off x="2095500" y="4324350"/>
            <a:ext cx="6858000" cy="476250"/>
          </a:xfrm>
          <a:prstGeom prst="rect">
            <a:avLst/>
          </a:prstGeom>
          <a:noFill/>
          <a:ln w="0">
            <a:noFill/>
            <a:prstDash val="solid"/>
          </a:ln>
        </p:spPr>
        <p:txBody>
          <a:bodyPr anchor="ctr"/>
          <a:lstStyle>
            <a:defPPr algn="l">
              <a:defRPr sz="1950" b="1">
                <a:solidFill>
                  <a:srgbClr val="142B3B"/>
                </a:solidFill>
              </a:defRPr>
            </a:defPPr>
          </a:lstStyle>
          <a:p>
            <a:pPr algn="l">
              <a:defRPr sz="1950" b="1">
                <a:solidFill>
                  <a:srgbClr val="142B3B"/>
                </a:solidFill>
              </a:defRPr>
            </a:pPr>
            <a:r>
              <a:rPr sz="1950" b="1">
                <a:solidFill>
                  <a:srgbClr val="142B3B"/>
                </a:solidFill>
              </a:rPr>
              <a:t>one-bit binary output pins</a:t>
            </a:r>
          </a:p>
        </p:txBody>
      </p:sp>
      <p:sp>
        <p:nvSpPr>
          <p:cNvPr id="15" name="Straight Connector 14">
            <a:extLst>
              <a:ext uri="{FF2B5EF4-FFF2-40B4-BE49-F238E27FC236}">
                <a16:creationId xmlns:a16="http://schemas.microsoft.com/office/drawing/2014/main" id="{6F89E574-A42D-4E4B-AD97-1ED69FDEA6CE}"/>
              </a:ext>
            </a:extLst>
          </p:cNvPr>
          <p:cNvSpPr>
            <a:spLocks noGrp="1"/>
          </p:cNvSpPr>
          <p:nvPr/>
        </p:nvSpPr>
        <p:spPr>
          <a:xfrm>
            <a:off x="2095500" y="4953000"/>
            <a:ext cx="8286750" cy="0"/>
          </a:xfrm>
          <a:prstGeom prst="line">
            <a:avLst/>
          </a:prstGeom>
          <a:noFill/>
          <a:ln w="9525">
            <a:solidFill>
              <a:srgbClr val="CBD6D8"/>
            </a:solidFill>
            <a:prstDash val="solid"/>
          </a:ln>
        </p:spPr>
      </p:sp>
      <p:sp>
        <p:nvSpPr>
          <p:cNvPr id="16" name="Rectangle: Rounded Corners 15">
            <a:extLst>
              <a:ext uri="{FF2B5EF4-FFF2-40B4-BE49-F238E27FC236}">
                <a16:creationId xmlns:a16="http://schemas.microsoft.com/office/drawing/2014/main" id="{109D74C5-10C6-492C-AB6A-42B3FC1D6C38}"/>
              </a:ext>
            </a:extLst>
          </p:cNvPr>
          <p:cNvSpPr>
            <a:spLocks noGrp="1"/>
          </p:cNvSpPr>
          <p:nvPr/>
        </p:nvSpPr>
        <p:spPr>
          <a:xfrm>
            <a:off x="714375" y="5467350"/>
            <a:ext cx="10715625" cy="533400"/>
          </a:xfrm>
          <a:prstGeom prst="roundRect">
            <a:avLst>
              <a:gd name="adj" fmla="val 14286"/>
            </a:avLst>
          </a:prstGeom>
          <a:solidFill>
            <a:srgbClr val="142B3B"/>
          </a:solidFill>
          <a:ln w="0">
            <a:noFill/>
            <a:prstDash val="solid"/>
          </a:ln>
        </p:spPr>
      </p:sp>
      <p:sp>
        <p:nvSpPr>
          <p:cNvPr id="17" name="Rectangle 16">
            <a:extLst>
              <a:ext uri="{FF2B5EF4-FFF2-40B4-BE49-F238E27FC236}">
                <a16:creationId xmlns:a16="http://schemas.microsoft.com/office/drawing/2014/main" id="{2A7AD4D6-A9BF-4E15-99F0-B7E8823E8DF7}"/>
              </a:ext>
            </a:extLst>
          </p:cNvPr>
          <p:cNvSpPr>
            <a:spLocks noGrp="1"/>
          </p:cNvSpPr>
          <p:nvPr/>
        </p:nvSpPr>
        <p:spPr>
          <a:xfrm>
            <a:off x="933450" y="5534025"/>
            <a:ext cx="10191750" cy="400050"/>
          </a:xfrm>
          <a:prstGeom prst="rect">
            <a:avLst/>
          </a:prstGeom>
          <a:noFill/>
          <a:ln w="0">
            <a:noFill/>
            <a:prstDash val="solid"/>
          </a:ln>
        </p:spPr>
        <p:txBody>
          <a:bodyPr anchor="ctr"/>
          <a:lstStyle>
            <a:defPPr algn="ctr">
              <a:defRPr sz="1500" b="1">
                <a:solidFill>
                  <a:srgbClr val="FFFFFF"/>
                </a:solidFill>
              </a:defRPr>
            </a:defPPr>
          </a:lstStyle>
          <a:p>
            <a:pPr algn="ctr">
              <a:defRPr sz="1500" b="1">
                <a:solidFill>
                  <a:srgbClr val="FFFFFF"/>
                </a:solidFill>
              </a:defRPr>
            </a:pPr>
            <a:r>
              <a:rPr sz="1500" b="1">
                <a:solidFill>
                  <a:srgbClr val="FFFFFF"/>
                </a:solidFill>
              </a:rPr>
              <a:t>Goal: derive the equations, explain the signal flow, and verify examples.</a:t>
            </a:r>
          </a:p>
        </p:txBody>
      </p:sp>
    </p:spTree>
    <p:extLst>
      <p:ext uri="{BB962C8B-B14F-4D97-AF65-F5344CB8AC3E}">
        <p14:creationId xmlns:p14="http://schemas.microsoft.com/office/powerpoint/2010/main" val="2086114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F285D74-77E2-4B0B-AACE-8A1D09F67F86}"/>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D9C2FA1C-375A-4E24-A01A-59222EF05C81}"/>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FFFFFF"/>
                </a:solidFill>
              </a:defRPr>
            </a:defPPr>
          </a:lstStyle>
          <a:p>
            <a:pPr algn="l">
              <a:defRPr sz="2775" b="1">
                <a:solidFill>
                  <a:srgbClr val="FFFFFF"/>
                </a:solidFill>
              </a:defRPr>
            </a:pPr>
            <a:r>
              <a:rPr sz="2775" b="1">
                <a:solidFill>
                  <a:srgbClr val="FFFFFF"/>
                </a:solidFill>
              </a:rPr>
              <a:t>THE CONVERSION RULE</a:t>
            </a:r>
          </a:p>
        </p:txBody>
      </p:sp>
      <p:sp>
        <p:nvSpPr>
          <p:cNvPr id="3" name="Straight Connector 2">
            <a:extLst>
              <a:ext uri="{FF2B5EF4-FFF2-40B4-BE49-F238E27FC236}">
                <a16:creationId xmlns:a16="http://schemas.microsoft.com/office/drawing/2014/main" id="{F55A26B9-DD0D-416D-A4E6-3C911E5EEBAA}"/>
              </a:ext>
            </a:extLst>
          </p:cNvPr>
          <p:cNvSpPr>
            <a:spLocks noGrp="1"/>
          </p:cNvSpPr>
          <p:nvPr/>
        </p:nvSpPr>
        <p:spPr>
          <a:xfrm>
            <a:off x="666750" y="1066800"/>
            <a:ext cx="10858500" cy="0"/>
          </a:xfrm>
          <a:prstGeom prst="line">
            <a:avLst/>
          </a:prstGeom>
          <a:noFill/>
          <a:ln w="19050">
            <a:solidFill>
              <a:srgbClr val="5C707D"/>
            </a:solidFill>
            <a:prstDash val="solid"/>
          </a:ln>
        </p:spPr>
      </p:sp>
      <p:sp>
        <p:nvSpPr>
          <p:cNvPr id="4" name="Rectangle 3">
            <a:extLst>
              <a:ext uri="{FF2B5EF4-FFF2-40B4-BE49-F238E27FC236}">
                <a16:creationId xmlns:a16="http://schemas.microsoft.com/office/drawing/2014/main" id="{7C40741D-A8E4-48E7-84C9-5F8BA6CA46A1}"/>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BDE5E1"/>
                </a:solidFill>
              </a:defRPr>
            </a:defPPr>
          </a:lstStyle>
          <a:p>
            <a:pPr algn="l">
              <a:defRPr sz="975" b="1">
                <a:solidFill>
                  <a:srgbClr val="BDE5E1"/>
                </a:solidFill>
              </a:defRPr>
            </a:pPr>
            <a:r>
              <a:rPr sz="975" b="1">
                <a:solidFill>
                  <a:srgbClr val="BDE5E1"/>
                </a:solidFill>
              </a:rPr>
              <a:t>DDCA  •  GRAY CODE TO BINARY</a:t>
            </a:r>
          </a:p>
        </p:txBody>
      </p:sp>
      <p:sp>
        <p:nvSpPr>
          <p:cNvPr id="5" name="Rectangle 4">
            <a:extLst>
              <a:ext uri="{FF2B5EF4-FFF2-40B4-BE49-F238E27FC236}">
                <a16:creationId xmlns:a16="http://schemas.microsoft.com/office/drawing/2014/main" id="{0838B013-99D2-4925-8482-4A214D8203F7}"/>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BDE5E1"/>
                </a:solidFill>
              </a:defRPr>
            </a:defPPr>
          </a:lstStyle>
          <a:p>
            <a:pPr algn="r">
              <a:defRPr sz="975" b="1">
                <a:solidFill>
                  <a:srgbClr val="BDE5E1"/>
                </a:solidFill>
              </a:defRPr>
            </a:pPr>
            <a:r>
              <a:rPr sz="975" b="1">
                <a:solidFill>
                  <a:srgbClr val="BDE5E1"/>
                </a:solidFill>
              </a:rPr>
              <a:t>PRESENTER 3   |   07</a:t>
            </a:r>
          </a:p>
        </p:txBody>
      </p:sp>
      <p:sp>
        <p:nvSpPr>
          <p:cNvPr id="6" name="Rectangle 5">
            <a:extLst>
              <a:ext uri="{FF2B5EF4-FFF2-40B4-BE49-F238E27FC236}">
                <a16:creationId xmlns:a16="http://schemas.microsoft.com/office/drawing/2014/main" id="{EF99B338-AE8B-41AE-8CE4-43BF8871AD13}"/>
              </a:ext>
            </a:extLst>
          </p:cNvPr>
          <p:cNvSpPr>
            <a:spLocks noGrp="1"/>
          </p:cNvSpPr>
          <p:nvPr/>
        </p:nvSpPr>
        <p:spPr>
          <a:xfrm>
            <a:off x="742950" y="1295400"/>
            <a:ext cx="10477500" cy="361950"/>
          </a:xfrm>
          <a:prstGeom prst="rect">
            <a:avLst/>
          </a:prstGeom>
          <a:noFill/>
          <a:ln w="0">
            <a:noFill/>
            <a:prstDash val="solid"/>
          </a:ln>
        </p:spPr>
        <p:txBody>
          <a:bodyPr anchor="ctr"/>
          <a:lstStyle>
            <a:defPPr algn="l">
              <a:defRPr sz="1425" b="1">
                <a:solidFill>
                  <a:srgbClr val="BDE5E1"/>
                </a:solidFill>
              </a:defRPr>
            </a:defPPr>
          </a:lstStyle>
          <a:p>
            <a:pPr algn="l">
              <a:defRPr sz="1425" b="1">
                <a:solidFill>
                  <a:srgbClr val="BDE5E1"/>
                </a:solidFill>
              </a:defRPr>
            </a:pPr>
            <a:r>
              <a:rPr sz="1425" b="1">
                <a:solidFill>
                  <a:srgbClr val="BDE5E1"/>
                </a:solidFill>
              </a:rPr>
              <a:t>START AT THE MOST SIGNIFICANT BIT. MOVE TOWARD THE RIGHT.</a:t>
            </a:r>
          </a:p>
        </p:txBody>
      </p:sp>
      <p:sp>
        <p:nvSpPr>
          <p:cNvPr id="7" name="Rectangle 6">
            <a:extLst>
              <a:ext uri="{FF2B5EF4-FFF2-40B4-BE49-F238E27FC236}">
                <a16:creationId xmlns:a16="http://schemas.microsoft.com/office/drawing/2014/main" id="{355BF313-99A8-4046-8525-D29921B726B8}"/>
              </a:ext>
            </a:extLst>
          </p:cNvPr>
          <p:cNvSpPr>
            <a:spLocks noGrp="1"/>
          </p:cNvSpPr>
          <p:nvPr/>
        </p:nvSpPr>
        <p:spPr>
          <a:xfrm>
            <a:off x="904875" y="2000250"/>
            <a:ext cx="3714750" cy="533400"/>
          </a:xfrm>
          <a:prstGeom prst="rect">
            <a:avLst/>
          </a:prstGeom>
          <a:noFill/>
          <a:ln w="0">
            <a:noFill/>
            <a:prstDash val="solid"/>
          </a:ln>
        </p:spPr>
        <p:txBody>
          <a:bodyPr anchor="ctr"/>
          <a:lstStyle>
            <a:defPPr algn="l">
              <a:defRPr sz="2325" b="1">
                <a:solidFill>
                  <a:srgbClr val="F2A65A"/>
                </a:solidFill>
              </a:defRPr>
            </a:defPPr>
          </a:lstStyle>
          <a:p>
            <a:pPr algn="l">
              <a:defRPr sz="2325" b="1">
                <a:solidFill>
                  <a:srgbClr val="F2A65A"/>
                </a:solidFill>
              </a:defRPr>
            </a:pPr>
            <a:r>
              <a:rPr sz="2325" b="1">
                <a:solidFill>
                  <a:srgbClr val="F2A65A"/>
                </a:solidFill>
              </a:rPr>
              <a:t>B3 = G3</a:t>
            </a:r>
          </a:p>
        </p:txBody>
      </p:sp>
      <p:sp>
        <p:nvSpPr>
          <p:cNvPr id="8" name="Rectangle 7">
            <a:extLst>
              <a:ext uri="{FF2B5EF4-FFF2-40B4-BE49-F238E27FC236}">
                <a16:creationId xmlns:a16="http://schemas.microsoft.com/office/drawing/2014/main" id="{4D972B3D-CCAD-4620-9D79-77BAB4F27376}"/>
              </a:ext>
            </a:extLst>
          </p:cNvPr>
          <p:cNvSpPr>
            <a:spLocks noGrp="1"/>
          </p:cNvSpPr>
          <p:nvPr/>
        </p:nvSpPr>
        <p:spPr>
          <a:xfrm>
            <a:off x="5095875" y="20478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copy the first bit</a:t>
            </a:r>
          </a:p>
        </p:txBody>
      </p:sp>
      <p:sp>
        <p:nvSpPr>
          <p:cNvPr id="9" name="Rectangle 8">
            <a:extLst>
              <a:ext uri="{FF2B5EF4-FFF2-40B4-BE49-F238E27FC236}">
                <a16:creationId xmlns:a16="http://schemas.microsoft.com/office/drawing/2014/main" id="{6F12BA19-01D8-4AF1-812D-3BB0E575F3EF}"/>
              </a:ext>
            </a:extLst>
          </p:cNvPr>
          <p:cNvSpPr>
            <a:spLocks noGrp="1"/>
          </p:cNvSpPr>
          <p:nvPr/>
        </p:nvSpPr>
        <p:spPr>
          <a:xfrm>
            <a:off x="904875" y="2876550"/>
            <a:ext cx="3714750" cy="533400"/>
          </a:xfrm>
          <a:prstGeom prst="rect">
            <a:avLst/>
          </a:prstGeom>
          <a:noFill/>
          <a:ln w="0">
            <a:noFill/>
            <a:prstDash val="solid"/>
          </a:ln>
        </p:spPr>
        <p:txBody>
          <a:bodyPr anchor="ctr"/>
          <a:lstStyle>
            <a:defPPr algn="l">
              <a:defRPr sz="2325" b="1">
                <a:solidFill>
                  <a:srgbClr val="FFFFFF"/>
                </a:solidFill>
              </a:defRPr>
            </a:defPPr>
          </a:lstStyle>
          <a:p>
            <a:pPr algn="l">
              <a:defRPr sz="2325" b="1">
                <a:solidFill>
                  <a:srgbClr val="FFFFFF"/>
                </a:solidFill>
              </a:defRPr>
            </a:pPr>
            <a:r>
              <a:rPr sz="2325" b="1">
                <a:solidFill>
                  <a:srgbClr val="FFFFFF"/>
                </a:solidFill>
              </a:rPr>
              <a:t>B2 = B3 ⊕ G2</a:t>
            </a:r>
          </a:p>
        </p:txBody>
      </p:sp>
      <p:sp>
        <p:nvSpPr>
          <p:cNvPr id="10" name="Rectangle 9">
            <a:extLst>
              <a:ext uri="{FF2B5EF4-FFF2-40B4-BE49-F238E27FC236}">
                <a16:creationId xmlns:a16="http://schemas.microsoft.com/office/drawing/2014/main" id="{64AAC9C8-05AA-438F-B347-2043C1505AF8}"/>
              </a:ext>
            </a:extLst>
          </p:cNvPr>
          <p:cNvSpPr>
            <a:spLocks noGrp="1"/>
          </p:cNvSpPr>
          <p:nvPr/>
        </p:nvSpPr>
        <p:spPr>
          <a:xfrm>
            <a:off x="5095875" y="29241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previous binary ⊕ next Gray bit</a:t>
            </a:r>
          </a:p>
        </p:txBody>
      </p:sp>
      <p:sp>
        <p:nvSpPr>
          <p:cNvPr id="11" name="Rectangle 10">
            <a:extLst>
              <a:ext uri="{FF2B5EF4-FFF2-40B4-BE49-F238E27FC236}">
                <a16:creationId xmlns:a16="http://schemas.microsoft.com/office/drawing/2014/main" id="{C37BC3C1-7D93-42AC-A487-0C5A11A07814}"/>
              </a:ext>
            </a:extLst>
          </p:cNvPr>
          <p:cNvSpPr>
            <a:spLocks noGrp="1"/>
          </p:cNvSpPr>
          <p:nvPr/>
        </p:nvSpPr>
        <p:spPr>
          <a:xfrm>
            <a:off x="904875" y="3752850"/>
            <a:ext cx="3714750" cy="533400"/>
          </a:xfrm>
          <a:prstGeom prst="rect">
            <a:avLst/>
          </a:prstGeom>
          <a:noFill/>
          <a:ln w="0">
            <a:noFill/>
            <a:prstDash val="solid"/>
          </a:ln>
        </p:spPr>
        <p:txBody>
          <a:bodyPr anchor="ctr"/>
          <a:lstStyle>
            <a:defPPr algn="l">
              <a:defRPr sz="2325" b="1">
                <a:solidFill>
                  <a:srgbClr val="FFFFFF"/>
                </a:solidFill>
              </a:defRPr>
            </a:defPPr>
          </a:lstStyle>
          <a:p>
            <a:pPr algn="l">
              <a:defRPr sz="2325" b="1">
                <a:solidFill>
                  <a:srgbClr val="FFFFFF"/>
                </a:solidFill>
              </a:defRPr>
            </a:pPr>
            <a:r>
              <a:rPr sz="2325" b="1">
                <a:solidFill>
                  <a:srgbClr val="FFFFFF"/>
                </a:solidFill>
              </a:rPr>
              <a:t>B1 = B2 ⊕ G1</a:t>
            </a:r>
          </a:p>
        </p:txBody>
      </p:sp>
      <p:sp>
        <p:nvSpPr>
          <p:cNvPr id="12" name="Rectangle 11">
            <a:extLst>
              <a:ext uri="{FF2B5EF4-FFF2-40B4-BE49-F238E27FC236}">
                <a16:creationId xmlns:a16="http://schemas.microsoft.com/office/drawing/2014/main" id="{736D03F5-4533-470B-AC99-D171A04CBBF0}"/>
              </a:ext>
            </a:extLst>
          </p:cNvPr>
          <p:cNvSpPr>
            <a:spLocks noGrp="1"/>
          </p:cNvSpPr>
          <p:nvPr/>
        </p:nvSpPr>
        <p:spPr>
          <a:xfrm>
            <a:off x="5095875" y="38004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carry the result forward</a:t>
            </a:r>
          </a:p>
        </p:txBody>
      </p:sp>
      <p:sp>
        <p:nvSpPr>
          <p:cNvPr id="13" name="Rectangle 12">
            <a:extLst>
              <a:ext uri="{FF2B5EF4-FFF2-40B4-BE49-F238E27FC236}">
                <a16:creationId xmlns:a16="http://schemas.microsoft.com/office/drawing/2014/main" id="{C2373F9D-ECAA-4122-BAFC-3925F5192CBB}"/>
              </a:ext>
            </a:extLst>
          </p:cNvPr>
          <p:cNvSpPr>
            <a:spLocks noGrp="1"/>
          </p:cNvSpPr>
          <p:nvPr/>
        </p:nvSpPr>
        <p:spPr>
          <a:xfrm>
            <a:off x="904875" y="4629150"/>
            <a:ext cx="3714750" cy="533400"/>
          </a:xfrm>
          <a:prstGeom prst="rect">
            <a:avLst/>
          </a:prstGeom>
          <a:noFill/>
          <a:ln w="0">
            <a:noFill/>
            <a:prstDash val="solid"/>
          </a:ln>
        </p:spPr>
        <p:txBody>
          <a:bodyPr anchor="ctr"/>
          <a:lstStyle>
            <a:defPPr algn="l">
              <a:defRPr sz="2325" b="1">
                <a:solidFill>
                  <a:srgbClr val="FFFFFF"/>
                </a:solidFill>
              </a:defRPr>
            </a:defPPr>
          </a:lstStyle>
          <a:p>
            <a:pPr algn="l">
              <a:defRPr sz="2325" b="1">
                <a:solidFill>
                  <a:srgbClr val="FFFFFF"/>
                </a:solidFill>
              </a:defRPr>
            </a:pPr>
            <a:r>
              <a:rPr sz="2325" b="1">
                <a:solidFill>
                  <a:srgbClr val="FFFFFF"/>
                </a:solidFill>
              </a:rPr>
              <a:t>B0 = B1 ⊕ G0</a:t>
            </a:r>
          </a:p>
        </p:txBody>
      </p:sp>
      <p:sp>
        <p:nvSpPr>
          <p:cNvPr id="14" name="Rectangle 13">
            <a:extLst>
              <a:ext uri="{FF2B5EF4-FFF2-40B4-BE49-F238E27FC236}">
                <a16:creationId xmlns:a16="http://schemas.microsoft.com/office/drawing/2014/main" id="{5D267973-5043-4BF1-87D0-29118B67C435}"/>
              </a:ext>
            </a:extLst>
          </p:cNvPr>
          <p:cNvSpPr>
            <a:spLocks noGrp="1"/>
          </p:cNvSpPr>
          <p:nvPr/>
        </p:nvSpPr>
        <p:spPr>
          <a:xfrm>
            <a:off x="5095875" y="4676775"/>
            <a:ext cx="5619750" cy="428625"/>
          </a:xfrm>
          <a:prstGeom prst="rect">
            <a:avLst/>
          </a:prstGeom>
          <a:noFill/>
          <a:ln w="0">
            <a:noFill/>
            <a:prstDash val="solid"/>
          </a:ln>
        </p:spPr>
        <p:txBody>
          <a:bodyPr anchor="ctr"/>
          <a:lstStyle>
            <a:defPPr algn="l">
              <a:defRPr sz="1650" b="0">
                <a:solidFill>
                  <a:srgbClr val="BDE5E1"/>
                </a:solidFill>
              </a:defRPr>
            </a:defPPr>
          </a:lstStyle>
          <a:p>
            <a:pPr algn="l">
              <a:defRPr sz="1650" b="0">
                <a:solidFill>
                  <a:srgbClr val="BDE5E1"/>
                </a:solidFill>
              </a:defRPr>
            </a:pPr>
            <a:r>
              <a:rPr sz="1650" b="0">
                <a:solidFill>
                  <a:srgbClr val="BDE5E1"/>
                </a:solidFill>
              </a:rPr>
              <a:t>repeat for the final bit</a:t>
            </a:r>
          </a:p>
        </p:txBody>
      </p:sp>
      <p:sp>
        <p:nvSpPr>
          <p:cNvPr id="15" name="Rectangle 14">
            <a:extLst>
              <a:ext uri="{FF2B5EF4-FFF2-40B4-BE49-F238E27FC236}">
                <a16:creationId xmlns:a16="http://schemas.microsoft.com/office/drawing/2014/main" id="{1BD1ABE1-FEBD-4470-A8C2-9037973D16FD}"/>
              </a:ext>
            </a:extLst>
          </p:cNvPr>
          <p:cNvSpPr>
            <a:spLocks noGrp="1"/>
          </p:cNvSpPr>
          <p:nvPr/>
        </p:nvSpPr>
        <p:spPr>
          <a:xfrm>
            <a:off x="904875" y="5753100"/>
            <a:ext cx="10287000" cy="323850"/>
          </a:xfrm>
          <a:prstGeom prst="rect">
            <a:avLst/>
          </a:prstGeom>
          <a:noFill/>
          <a:ln w="0">
            <a:noFill/>
            <a:prstDash val="solid"/>
          </a:ln>
        </p:spPr>
        <p:txBody>
          <a:bodyPr anchor="ctr"/>
          <a:lstStyle>
            <a:defPPr algn="l">
              <a:defRPr sz="1500" b="1">
                <a:solidFill>
                  <a:srgbClr val="FFFFFF"/>
                </a:solidFill>
              </a:defRPr>
            </a:defPPr>
          </a:lstStyle>
          <a:p>
            <a:pPr algn="l">
              <a:defRPr sz="1500" b="1">
                <a:solidFill>
                  <a:srgbClr val="FFFFFF"/>
                </a:solidFill>
              </a:defRPr>
            </a:pPr>
            <a:r>
              <a:rPr sz="1500" b="1">
                <a:solidFill>
                  <a:srgbClr val="FFFFFF"/>
                </a:solidFill>
              </a:rPr>
              <a:t>⊕  =  exclusive OR (XOR): 1 when inputs differ; 0 when they match.</a:t>
            </a:r>
          </a:p>
        </p:txBody>
      </p:sp>
    </p:spTree>
    <p:extLst>
      <p:ext uri="{BB962C8B-B14F-4D97-AF65-F5344CB8AC3E}">
        <p14:creationId xmlns:p14="http://schemas.microsoft.com/office/powerpoint/2010/main" val="1545362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3DB0CD6-B081-4700-A0B9-87D67572F321}"/>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BF54D34E-3767-457B-87BF-9286E6E87C4E}"/>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WALK THROUGH ONE CONVERSION</a:t>
            </a:r>
          </a:p>
        </p:txBody>
      </p:sp>
      <p:sp>
        <p:nvSpPr>
          <p:cNvPr id="3" name="Straight Connector 2">
            <a:extLst>
              <a:ext uri="{FF2B5EF4-FFF2-40B4-BE49-F238E27FC236}">
                <a16:creationId xmlns:a16="http://schemas.microsoft.com/office/drawing/2014/main" id="{82A55DE8-AF79-48BD-B638-E36356E73172}"/>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746D8E8C-0D85-4703-B01F-466A4284557D}"/>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4FBBF449-C003-422C-9F65-0CD85187D030}"/>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3   |   08</a:t>
            </a:r>
          </a:p>
        </p:txBody>
      </p:sp>
      <p:sp>
        <p:nvSpPr>
          <p:cNvPr id="6" name="Rectangle: Rounded Corners 5">
            <a:extLst>
              <a:ext uri="{FF2B5EF4-FFF2-40B4-BE49-F238E27FC236}">
                <a16:creationId xmlns:a16="http://schemas.microsoft.com/office/drawing/2014/main" id="{BF9ABB1C-59E3-4874-A0AB-A4A8F15CD2D3}"/>
              </a:ext>
            </a:extLst>
          </p:cNvPr>
          <p:cNvSpPr>
            <a:spLocks noGrp="1"/>
          </p:cNvSpPr>
          <p:nvPr/>
        </p:nvSpPr>
        <p:spPr>
          <a:xfrm>
            <a:off x="742950" y="1323975"/>
            <a:ext cx="1809750" cy="323850"/>
          </a:xfrm>
          <a:prstGeom prst="roundRect">
            <a:avLst>
              <a:gd name="adj" fmla="val 23529"/>
            </a:avLst>
          </a:prstGeom>
          <a:solidFill>
            <a:srgbClr val="0E7C86"/>
          </a:solidFill>
          <a:ln w="0">
            <a:noFill/>
            <a:prstDash val="solid"/>
          </a:ln>
        </p:spPr>
      </p:sp>
      <p:sp>
        <p:nvSpPr>
          <p:cNvPr id="7" name="Rectangle 6">
            <a:extLst>
              <a:ext uri="{FF2B5EF4-FFF2-40B4-BE49-F238E27FC236}">
                <a16:creationId xmlns:a16="http://schemas.microsoft.com/office/drawing/2014/main" id="{D6812AE1-7239-4CD5-B939-4A6656D20D61}"/>
              </a:ext>
            </a:extLst>
          </p:cNvPr>
          <p:cNvSpPr>
            <a:spLocks noGrp="1"/>
          </p:cNvSpPr>
          <p:nvPr/>
        </p:nvSpPr>
        <p:spPr>
          <a:xfrm>
            <a:off x="828675" y="1343025"/>
            <a:ext cx="1638300" cy="285750"/>
          </a:xfrm>
          <a:prstGeom prst="rect">
            <a:avLst/>
          </a:prstGeom>
          <a:noFill/>
          <a:ln w="0">
            <a:noFill/>
            <a:prstDash val="solid"/>
          </a:ln>
        </p:spPr>
        <p:txBody>
          <a:bodyPr anchor="ctr"/>
          <a:lstStyle>
            <a:defPPr algn="ctr">
              <a:defRPr sz="1125" b="1">
                <a:solidFill>
                  <a:srgbClr val="FFFFFF"/>
                </a:solidFill>
              </a:defRPr>
            </a:defPPr>
          </a:lstStyle>
          <a:p>
            <a:pPr algn="ctr">
              <a:defRPr sz="1125" b="1">
                <a:solidFill>
                  <a:srgbClr val="FFFFFF"/>
                </a:solidFill>
              </a:defRPr>
            </a:pPr>
            <a:r>
              <a:rPr sz="1125" b="1">
                <a:solidFill>
                  <a:srgbClr val="FFFFFF"/>
                </a:solidFill>
              </a:rPr>
              <a:t>WORKED EXAMPLE</a:t>
            </a:r>
          </a:p>
        </p:txBody>
      </p:sp>
      <p:sp>
        <p:nvSpPr>
          <p:cNvPr id="8" name="Rectangle 7">
            <a:extLst>
              <a:ext uri="{FF2B5EF4-FFF2-40B4-BE49-F238E27FC236}">
                <a16:creationId xmlns:a16="http://schemas.microsoft.com/office/drawing/2014/main" id="{DC4A0240-F2A9-41AD-850F-506E92630732}"/>
              </a:ext>
            </a:extLst>
          </p:cNvPr>
          <p:cNvSpPr>
            <a:spLocks noGrp="1"/>
          </p:cNvSpPr>
          <p:nvPr/>
        </p:nvSpPr>
        <p:spPr>
          <a:xfrm>
            <a:off x="762000" y="1981200"/>
            <a:ext cx="1714500" cy="266700"/>
          </a:xfrm>
          <a:prstGeom prst="rect">
            <a:avLst/>
          </a:prstGeom>
          <a:noFill/>
          <a:ln w="0">
            <a:noFill/>
            <a:prstDash val="solid"/>
          </a:ln>
        </p:spPr>
        <p:txBody>
          <a:bodyPr anchor="ctr"/>
          <a:lstStyle>
            <a:defPPr algn="l">
              <a:defRPr sz="1200" b="1">
                <a:solidFill>
                  <a:srgbClr val="5C707D"/>
                </a:solidFill>
              </a:defRPr>
            </a:defPPr>
          </a:lstStyle>
          <a:p>
            <a:pPr algn="l">
              <a:defRPr sz="1200" b="1">
                <a:solidFill>
                  <a:srgbClr val="5C707D"/>
                </a:solidFill>
              </a:defRPr>
            </a:pPr>
            <a:r>
              <a:rPr sz="1200" b="1">
                <a:solidFill>
                  <a:srgbClr val="5C707D"/>
                </a:solidFill>
              </a:rPr>
              <a:t>GRAY INPUT</a:t>
            </a:r>
          </a:p>
        </p:txBody>
      </p:sp>
      <p:sp>
        <p:nvSpPr>
          <p:cNvPr id="9" name="Rectangle 8">
            <a:extLst>
              <a:ext uri="{FF2B5EF4-FFF2-40B4-BE49-F238E27FC236}">
                <a16:creationId xmlns:a16="http://schemas.microsoft.com/office/drawing/2014/main" id="{9767F463-8438-4EDE-812F-B067F7C7ED03}"/>
              </a:ext>
            </a:extLst>
          </p:cNvPr>
          <p:cNvSpPr>
            <a:spLocks noGrp="1"/>
          </p:cNvSpPr>
          <p:nvPr/>
        </p:nvSpPr>
        <p:spPr>
          <a:xfrm>
            <a:off x="723900" y="2286000"/>
            <a:ext cx="3905250" cy="762000"/>
          </a:xfrm>
          <a:prstGeom prst="rect">
            <a:avLst/>
          </a:prstGeom>
          <a:noFill/>
          <a:ln w="0">
            <a:noFill/>
            <a:prstDash val="solid"/>
          </a:ln>
        </p:spPr>
        <p:txBody>
          <a:bodyPr anchor="ctr"/>
          <a:lstStyle>
            <a:defPPr algn="l">
              <a:defRPr sz="3900" b="1">
                <a:solidFill>
                  <a:srgbClr val="142B3B"/>
                </a:solidFill>
              </a:defRPr>
            </a:defPPr>
          </a:lstStyle>
          <a:p>
            <a:pPr algn="l">
              <a:defRPr sz="3900" b="1">
                <a:solidFill>
                  <a:srgbClr val="142B3B"/>
                </a:solidFill>
              </a:defRPr>
            </a:pPr>
            <a:r>
              <a:rPr sz="3900" b="1">
                <a:solidFill>
                  <a:srgbClr val="142B3B"/>
                </a:solidFill>
              </a:rPr>
              <a:t>1  1  0  1</a:t>
            </a:r>
          </a:p>
        </p:txBody>
      </p:sp>
      <p:sp>
        <p:nvSpPr>
          <p:cNvPr id="10" name="Rectangle 9">
            <a:extLst>
              <a:ext uri="{FF2B5EF4-FFF2-40B4-BE49-F238E27FC236}">
                <a16:creationId xmlns:a16="http://schemas.microsoft.com/office/drawing/2014/main" id="{730DE6DA-AAAF-4A59-B598-6FF1F9B73FA1}"/>
              </a:ext>
            </a:extLst>
          </p:cNvPr>
          <p:cNvSpPr>
            <a:spLocks noGrp="1"/>
          </p:cNvSpPr>
          <p:nvPr/>
        </p:nvSpPr>
        <p:spPr>
          <a:xfrm>
            <a:off x="838200" y="3048000"/>
            <a:ext cx="3714750" cy="247650"/>
          </a:xfrm>
          <a:prstGeom prst="rect">
            <a:avLst/>
          </a:prstGeom>
          <a:noFill/>
          <a:ln w="0">
            <a:noFill/>
            <a:prstDash val="solid"/>
          </a:ln>
        </p:spPr>
        <p:txBody>
          <a:bodyPr anchor="ctr"/>
          <a:lstStyle>
            <a:defPPr algn="ctr">
              <a:defRPr sz="1200" b="0">
                <a:solidFill>
                  <a:srgbClr val="5C707D"/>
                </a:solidFill>
              </a:defRPr>
            </a:defPPr>
          </a:lstStyle>
          <a:p>
            <a:pPr algn="ctr">
              <a:defRPr sz="1200" b="0">
                <a:solidFill>
                  <a:srgbClr val="5C707D"/>
                </a:solidFill>
              </a:defRPr>
            </a:pPr>
            <a:r>
              <a:rPr sz="1200" b="0">
                <a:solidFill>
                  <a:srgbClr val="5C707D"/>
                </a:solidFill>
              </a:rPr>
              <a:t>G3 G2 G1 G0</a:t>
            </a:r>
          </a:p>
        </p:txBody>
      </p:sp>
      <p:sp>
        <p:nvSpPr>
          <p:cNvPr id="11" name="Rectangle 10">
            <a:extLst>
              <a:ext uri="{FF2B5EF4-FFF2-40B4-BE49-F238E27FC236}">
                <a16:creationId xmlns:a16="http://schemas.microsoft.com/office/drawing/2014/main" id="{903B9D21-13C1-4FB6-947E-1FFA1D58AA5C}"/>
              </a:ext>
            </a:extLst>
          </p:cNvPr>
          <p:cNvSpPr>
            <a:spLocks noGrp="1"/>
          </p:cNvSpPr>
          <p:nvPr/>
        </p:nvSpPr>
        <p:spPr>
          <a:xfrm>
            <a:off x="5334000" y="19050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B3</a:t>
            </a:r>
          </a:p>
        </p:txBody>
      </p:sp>
      <p:sp>
        <p:nvSpPr>
          <p:cNvPr id="12" name="Rectangle 11">
            <a:extLst>
              <a:ext uri="{FF2B5EF4-FFF2-40B4-BE49-F238E27FC236}">
                <a16:creationId xmlns:a16="http://schemas.microsoft.com/office/drawing/2014/main" id="{D078F9BD-CF6B-4F44-B7F7-AC410ACADADB}"/>
              </a:ext>
            </a:extLst>
          </p:cNvPr>
          <p:cNvSpPr>
            <a:spLocks noGrp="1"/>
          </p:cNvSpPr>
          <p:nvPr/>
        </p:nvSpPr>
        <p:spPr>
          <a:xfrm>
            <a:off x="6353175" y="19050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G3 = 1</a:t>
            </a:r>
          </a:p>
        </p:txBody>
      </p:sp>
      <p:sp>
        <p:nvSpPr>
          <p:cNvPr id="13" name="Oval 12">
            <a:extLst>
              <a:ext uri="{FF2B5EF4-FFF2-40B4-BE49-F238E27FC236}">
                <a16:creationId xmlns:a16="http://schemas.microsoft.com/office/drawing/2014/main" id="{D2F74F59-51FF-4E90-AA88-B63B0B84ACD7}"/>
              </a:ext>
            </a:extLst>
          </p:cNvPr>
          <p:cNvSpPr>
            <a:spLocks noGrp="1"/>
          </p:cNvSpPr>
          <p:nvPr/>
        </p:nvSpPr>
        <p:spPr>
          <a:xfrm>
            <a:off x="9810750" y="1933575"/>
            <a:ext cx="457200" cy="457200"/>
          </a:xfrm>
          <a:prstGeom prst="ellipse">
            <a:avLst/>
          </a:prstGeom>
          <a:solidFill>
            <a:srgbClr val="E7EFF0"/>
          </a:solidFill>
          <a:ln w="0">
            <a:noFill/>
            <a:prstDash val="solid"/>
          </a:ln>
        </p:spPr>
      </p:sp>
      <p:sp>
        <p:nvSpPr>
          <p:cNvPr id="14" name="Rectangle 13">
            <a:extLst>
              <a:ext uri="{FF2B5EF4-FFF2-40B4-BE49-F238E27FC236}">
                <a16:creationId xmlns:a16="http://schemas.microsoft.com/office/drawing/2014/main" id="{4CCF9CD5-77F1-45C2-B3A2-6262C2ED76DC}"/>
              </a:ext>
            </a:extLst>
          </p:cNvPr>
          <p:cNvSpPr>
            <a:spLocks noGrp="1"/>
          </p:cNvSpPr>
          <p:nvPr/>
        </p:nvSpPr>
        <p:spPr>
          <a:xfrm>
            <a:off x="9810750" y="19240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1</a:t>
            </a:r>
          </a:p>
        </p:txBody>
      </p:sp>
      <p:sp>
        <p:nvSpPr>
          <p:cNvPr id="15" name="Rectangle 14">
            <a:extLst>
              <a:ext uri="{FF2B5EF4-FFF2-40B4-BE49-F238E27FC236}">
                <a16:creationId xmlns:a16="http://schemas.microsoft.com/office/drawing/2014/main" id="{D47271A3-CAB9-4C58-98B9-3CBCA49F869B}"/>
              </a:ext>
            </a:extLst>
          </p:cNvPr>
          <p:cNvSpPr>
            <a:spLocks noGrp="1"/>
          </p:cNvSpPr>
          <p:nvPr/>
        </p:nvSpPr>
        <p:spPr>
          <a:xfrm>
            <a:off x="5334000" y="27432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B2</a:t>
            </a:r>
          </a:p>
        </p:txBody>
      </p:sp>
      <p:sp>
        <p:nvSpPr>
          <p:cNvPr id="16" name="Rectangle 15">
            <a:extLst>
              <a:ext uri="{FF2B5EF4-FFF2-40B4-BE49-F238E27FC236}">
                <a16:creationId xmlns:a16="http://schemas.microsoft.com/office/drawing/2014/main" id="{D58D018C-A90E-463F-B4BF-36EC603A40DA}"/>
              </a:ext>
            </a:extLst>
          </p:cNvPr>
          <p:cNvSpPr>
            <a:spLocks noGrp="1"/>
          </p:cNvSpPr>
          <p:nvPr/>
        </p:nvSpPr>
        <p:spPr>
          <a:xfrm>
            <a:off x="6353175" y="27432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1 ⊕ 1 = 0</a:t>
            </a:r>
          </a:p>
        </p:txBody>
      </p:sp>
      <p:sp>
        <p:nvSpPr>
          <p:cNvPr id="17" name="Oval 16">
            <a:extLst>
              <a:ext uri="{FF2B5EF4-FFF2-40B4-BE49-F238E27FC236}">
                <a16:creationId xmlns:a16="http://schemas.microsoft.com/office/drawing/2014/main" id="{2347564F-3FDF-4C14-B0A0-3E0BD97B0EDF}"/>
              </a:ext>
            </a:extLst>
          </p:cNvPr>
          <p:cNvSpPr>
            <a:spLocks noGrp="1"/>
          </p:cNvSpPr>
          <p:nvPr/>
        </p:nvSpPr>
        <p:spPr>
          <a:xfrm>
            <a:off x="9810750" y="2771775"/>
            <a:ext cx="457200" cy="457200"/>
          </a:xfrm>
          <a:prstGeom prst="ellipse">
            <a:avLst/>
          </a:prstGeom>
          <a:solidFill>
            <a:srgbClr val="E7EFF0"/>
          </a:solidFill>
          <a:ln w="0">
            <a:noFill/>
            <a:prstDash val="solid"/>
          </a:ln>
        </p:spPr>
      </p:sp>
      <p:sp>
        <p:nvSpPr>
          <p:cNvPr id="18" name="Rectangle 17">
            <a:extLst>
              <a:ext uri="{FF2B5EF4-FFF2-40B4-BE49-F238E27FC236}">
                <a16:creationId xmlns:a16="http://schemas.microsoft.com/office/drawing/2014/main" id="{87CDAF62-E2E4-450D-8589-9DFE31F1145D}"/>
              </a:ext>
            </a:extLst>
          </p:cNvPr>
          <p:cNvSpPr>
            <a:spLocks noGrp="1"/>
          </p:cNvSpPr>
          <p:nvPr/>
        </p:nvSpPr>
        <p:spPr>
          <a:xfrm>
            <a:off x="9810750" y="27622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0</a:t>
            </a:r>
          </a:p>
        </p:txBody>
      </p:sp>
      <p:sp>
        <p:nvSpPr>
          <p:cNvPr id="19" name="Rectangle 18">
            <a:extLst>
              <a:ext uri="{FF2B5EF4-FFF2-40B4-BE49-F238E27FC236}">
                <a16:creationId xmlns:a16="http://schemas.microsoft.com/office/drawing/2014/main" id="{D574EC0F-9479-4D4A-A297-6EB7532DB0EA}"/>
              </a:ext>
            </a:extLst>
          </p:cNvPr>
          <p:cNvSpPr>
            <a:spLocks noGrp="1"/>
          </p:cNvSpPr>
          <p:nvPr/>
        </p:nvSpPr>
        <p:spPr>
          <a:xfrm>
            <a:off x="5334000" y="35814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B1</a:t>
            </a:r>
          </a:p>
        </p:txBody>
      </p:sp>
      <p:sp>
        <p:nvSpPr>
          <p:cNvPr id="20" name="Rectangle 19">
            <a:extLst>
              <a:ext uri="{FF2B5EF4-FFF2-40B4-BE49-F238E27FC236}">
                <a16:creationId xmlns:a16="http://schemas.microsoft.com/office/drawing/2014/main" id="{18B4E396-D655-4090-B18D-D88176B439C4}"/>
              </a:ext>
            </a:extLst>
          </p:cNvPr>
          <p:cNvSpPr>
            <a:spLocks noGrp="1"/>
          </p:cNvSpPr>
          <p:nvPr/>
        </p:nvSpPr>
        <p:spPr>
          <a:xfrm>
            <a:off x="6353175" y="35814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0 ⊕ 0 = 0</a:t>
            </a:r>
          </a:p>
        </p:txBody>
      </p:sp>
      <p:sp>
        <p:nvSpPr>
          <p:cNvPr id="21" name="Oval 20">
            <a:extLst>
              <a:ext uri="{FF2B5EF4-FFF2-40B4-BE49-F238E27FC236}">
                <a16:creationId xmlns:a16="http://schemas.microsoft.com/office/drawing/2014/main" id="{A6402797-668D-490E-8700-97D3430F6FC5}"/>
              </a:ext>
            </a:extLst>
          </p:cNvPr>
          <p:cNvSpPr>
            <a:spLocks noGrp="1"/>
          </p:cNvSpPr>
          <p:nvPr/>
        </p:nvSpPr>
        <p:spPr>
          <a:xfrm>
            <a:off x="9810750" y="3609975"/>
            <a:ext cx="457200" cy="457200"/>
          </a:xfrm>
          <a:prstGeom prst="ellipse">
            <a:avLst/>
          </a:prstGeom>
          <a:solidFill>
            <a:srgbClr val="E7EFF0"/>
          </a:solidFill>
          <a:ln w="0">
            <a:noFill/>
            <a:prstDash val="solid"/>
          </a:ln>
        </p:spPr>
      </p:sp>
      <p:sp>
        <p:nvSpPr>
          <p:cNvPr id="22" name="Rectangle 21">
            <a:extLst>
              <a:ext uri="{FF2B5EF4-FFF2-40B4-BE49-F238E27FC236}">
                <a16:creationId xmlns:a16="http://schemas.microsoft.com/office/drawing/2014/main" id="{B5C468BE-2D6D-4BB1-9973-455AD710CB72}"/>
              </a:ext>
            </a:extLst>
          </p:cNvPr>
          <p:cNvSpPr>
            <a:spLocks noGrp="1"/>
          </p:cNvSpPr>
          <p:nvPr/>
        </p:nvSpPr>
        <p:spPr>
          <a:xfrm>
            <a:off x="9810750" y="36004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0</a:t>
            </a:r>
          </a:p>
        </p:txBody>
      </p:sp>
      <p:sp>
        <p:nvSpPr>
          <p:cNvPr id="23" name="Rectangle 22">
            <a:extLst>
              <a:ext uri="{FF2B5EF4-FFF2-40B4-BE49-F238E27FC236}">
                <a16:creationId xmlns:a16="http://schemas.microsoft.com/office/drawing/2014/main" id="{76D2F68F-AAC1-46C1-9228-B7FBC88E7EB9}"/>
              </a:ext>
            </a:extLst>
          </p:cNvPr>
          <p:cNvSpPr>
            <a:spLocks noGrp="1"/>
          </p:cNvSpPr>
          <p:nvPr/>
        </p:nvSpPr>
        <p:spPr>
          <a:xfrm>
            <a:off x="5334000" y="4419600"/>
            <a:ext cx="809625" cy="409575"/>
          </a:xfrm>
          <a:prstGeom prst="rect">
            <a:avLst/>
          </a:prstGeom>
          <a:noFill/>
          <a:ln w="0">
            <a:noFill/>
            <a:prstDash val="solid"/>
          </a:ln>
        </p:spPr>
        <p:txBody>
          <a:bodyPr anchor="ctr"/>
          <a:lstStyle>
            <a:defPPr algn="l">
              <a:defRPr sz="1575" b="1">
                <a:solidFill>
                  <a:srgbClr val="0E7C86"/>
                </a:solidFill>
              </a:defRPr>
            </a:defPPr>
          </a:lstStyle>
          <a:p>
            <a:pPr algn="l">
              <a:defRPr sz="1575" b="1">
                <a:solidFill>
                  <a:srgbClr val="0E7C86"/>
                </a:solidFill>
              </a:defRPr>
            </a:pPr>
            <a:r>
              <a:rPr sz="1575" b="1">
                <a:solidFill>
                  <a:srgbClr val="0E7C86"/>
                </a:solidFill>
              </a:rPr>
              <a:t>B0</a:t>
            </a:r>
          </a:p>
        </p:txBody>
      </p:sp>
      <p:sp>
        <p:nvSpPr>
          <p:cNvPr id="24" name="Rectangle 23">
            <a:extLst>
              <a:ext uri="{FF2B5EF4-FFF2-40B4-BE49-F238E27FC236}">
                <a16:creationId xmlns:a16="http://schemas.microsoft.com/office/drawing/2014/main" id="{3D2F2990-0978-4DC9-91E7-950CCB72E411}"/>
              </a:ext>
            </a:extLst>
          </p:cNvPr>
          <p:cNvSpPr>
            <a:spLocks noGrp="1"/>
          </p:cNvSpPr>
          <p:nvPr/>
        </p:nvSpPr>
        <p:spPr>
          <a:xfrm>
            <a:off x="6353175" y="4419600"/>
            <a:ext cx="3000375" cy="409575"/>
          </a:xfrm>
          <a:prstGeom prst="rect">
            <a:avLst/>
          </a:prstGeom>
          <a:noFill/>
          <a:ln w="0">
            <a:noFill/>
            <a:prstDash val="solid"/>
          </a:ln>
        </p:spPr>
        <p:txBody>
          <a:bodyPr anchor="ctr"/>
          <a:lstStyle>
            <a:defPPr algn="l">
              <a:defRPr sz="1725" b="0">
                <a:solidFill>
                  <a:srgbClr val="203746"/>
                </a:solidFill>
              </a:defRPr>
            </a:defPPr>
          </a:lstStyle>
          <a:p>
            <a:pPr algn="l">
              <a:defRPr sz="1725" b="0">
                <a:solidFill>
                  <a:srgbClr val="203746"/>
                </a:solidFill>
              </a:defRPr>
            </a:pPr>
            <a:r>
              <a:rPr sz="1725" b="0">
                <a:solidFill>
                  <a:srgbClr val="203746"/>
                </a:solidFill>
              </a:rPr>
              <a:t>0 ⊕ 1 = 1</a:t>
            </a:r>
          </a:p>
        </p:txBody>
      </p:sp>
      <p:sp>
        <p:nvSpPr>
          <p:cNvPr id="25" name="Oval 24">
            <a:extLst>
              <a:ext uri="{FF2B5EF4-FFF2-40B4-BE49-F238E27FC236}">
                <a16:creationId xmlns:a16="http://schemas.microsoft.com/office/drawing/2014/main" id="{718ED192-61A7-484A-8DCD-6645BAC1A56E}"/>
              </a:ext>
            </a:extLst>
          </p:cNvPr>
          <p:cNvSpPr>
            <a:spLocks noGrp="1"/>
          </p:cNvSpPr>
          <p:nvPr/>
        </p:nvSpPr>
        <p:spPr>
          <a:xfrm>
            <a:off x="9810750" y="4448175"/>
            <a:ext cx="457200" cy="457200"/>
          </a:xfrm>
          <a:prstGeom prst="ellipse">
            <a:avLst/>
          </a:prstGeom>
          <a:solidFill>
            <a:srgbClr val="F2A65A"/>
          </a:solidFill>
          <a:ln w="0">
            <a:noFill/>
            <a:prstDash val="solid"/>
          </a:ln>
        </p:spPr>
      </p:sp>
      <p:sp>
        <p:nvSpPr>
          <p:cNvPr id="26" name="Rectangle 25">
            <a:extLst>
              <a:ext uri="{FF2B5EF4-FFF2-40B4-BE49-F238E27FC236}">
                <a16:creationId xmlns:a16="http://schemas.microsoft.com/office/drawing/2014/main" id="{358B32F5-E54C-4F64-95B6-3B3FD2D76662}"/>
              </a:ext>
            </a:extLst>
          </p:cNvPr>
          <p:cNvSpPr>
            <a:spLocks noGrp="1"/>
          </p:cNvSpPr>
          <p:nvPr/>
        </p:nvSpPr>
        <p:spPr>
          <a:xfrm>
            <a:off x="9810750" y="4438650"/>
            <a:ext cx="457200" cy="457200"/>
          </a:xfrm>
          <a:prstGeom prst="rect">
            <a:avLst/>
          </a:prstGeom>
          <a:noFill/>
          <a:ln w="0">
            <a:noFill/>
            <a:prstDash val="solid"/>
          </a:ln>
        </p:spPr>
        <p:txBody>
          <a:bodyPr anchor="ctr"/>
          <a:lstStyle>
            <a:defPPr algn="ctr">
              <a:defRPr sz="1725" b="1">
                <a:solidFill>
                  <a:srgbClr val="142B3B"/>
                </a:solidFill>
              </a:defRPr>
            </a:defPPr>
          </a:lstStyle>
          <a:p>
            <a:pPr algn="ctr">
              <a:defRPr sz="1725" b="1">
                <a:solidFill>
                  <a:srgbClr val="142B3B"/>
                </a:solidFill>
              </a:defRPr>
            </a:pPr>
            <a:r>
              <a:rPr sz="1725" b="1">
                <a:solidFill>
                  <a:srgbClr val="142B3B"/>
                </a:solidFill>
              </a:rPr>
              <a:t>1</a:t>
            </a:r>
          </a:p>
        </p:txBody>
      </p:sp>
      <p:sp>
        <p:nvSpPr>
          <p:cNvPr id="27" name="Rectangle: Rounded Corners 26">
            <a:extLst>
              <a:ext uri="{FF2B5EF4-FFF2-40B4-BE49-F238E27FC236}">
                <a16:creationId xmlns:a16="http://schemas.microsoft.com/office/drawing/2014/main" id="{42118C64-7B16-480D-A6E5-4479C71E879F}"/>
              </a:ext>
            </a:extLst>
          </p:cNvPr>
          <p:cNvSpPr>
            <a:spLocks noGrp="1"/>
          </p:cNvSpPr>
          <p:nvPr/>
        </p:nvSpPr>
        <p:spPr>
          <a:xfrm>
            <a:off x="723900" y="4438650"/>
            <a:ext cx="3905250" cy="895350"/>
          </a:xfrm>
          <a:prstGeom prst="roundRect">
            <a:avLst>
              <a:gd name="adj" fmla="val 8511"/>
            </a:avLst>
          </a:prstGeom>
          <a:solidFill>
            <a:srgbClr val="142B3B"/>
          </a:solidFill>
          <a:ln w="0">
            <a:noFill/>
            <a:prstDash val="solid"/>
          </a:ln>
        </p:spPr>
      </p:sp>
      <p:sp>
        <p:nvSpPr>
          <p:cNvPr id="28" name="Rectangle 27">
            <a:extLst>
              <a:ext uri="{FF2B5EF4-FFF2-40B4-BE49-F238E27FC236}">
                <a16:creationId xmlns:a16="http://schemas.microsoft.com/office/drawing/2014/main" id="{D31FB7AE-7A28-44E3-AE74-B881BA11011A}"/>
              </a:ext>
            </a:extLst>
          </p:cNvPr>
          <p:cNvSpPr>
            <a:spLocks noGrp="1"/>
          </p:cNvSpPr>
          <p:nvPr/>
        </p:nvSpPr>
        <p:spPr>
          <a:xfrm>
            <a:off x="933450" y="4543425"/>
            <a:ext cx="3429000" cy="228600"/>
          </a:xfrm>
          <a:prstGeom prst="rect">
            <a:avLst/>
          </a:prstGeom>
          <a:noFill/>
          <a:ln w="0">
            <a:noFill/>
            <a:prstDash val="solid"/>
          </a:ln>
        </p:spPr>
        <p:txBody>
          <a:bodyPr anchor="ctr"/>
          <a:lstStyle>
            <a:defPPr algn="l">
              <a:defRPr sz="1125" b="1">
                <a:solidFill>
                  <a:srgbClr val="BDE5E1"/>
                </a:solidFill>
              </a:defRPr>
            </a:defPPr>
          </a:lstStyle>
          <a:p>
            <a:pPr algn="l">
              <a:defRPr sz="1125" b="1">
                <a:solidFill>
                  <a:srgbClr val="BDE5E1"/>
                </a:solidFill>
              </a:defRPr>
            </a:pPr>
            <a:r>
              <a:rPr sz="1125" b="1">
                <a:solidFill>
                  <a:srgbClr val="BDE5E1"/>
                </a:solidFill>
              </a:rPr>
              <a:t>BINARY OUTPUT</a:t>
            </a:r>
          </a:p>
        </p:txBody>
      </p:sp>
      <p:sp>
        <p:nvSpPr>
          <p:cNvPr id="29" name="Rectangle 28">
            <a:extLst>
              <a:ext uri="{FF2B5EF4-FFF2-40B4-BE49-F238E27FC236}">
                <a16:creationId xmlns:a16="http://schemas.microsoft.com/office/drawing/2014/main" id="{B9A70FC9-D602-4E5A-8CAD-726C430918F5}"/>
              </a:ext>
            </a:extLst>
          </p:cNvPr>
          <p:cNvSpPr>
            <a:spLocks noGrp="1"/>
          </p:cNvSpPr>
          <p:nvPr/>
        </p:nvSpPr>
        <p:spPr>
          <a:xfrm>
            <a:off x="933450" y="4838700"/>
            <a:ext cx="3429000" cy="381000"/>
          </a:xfrm>
          <a:prstGeom prst="rect">
            <a:avLst/>
          </a:prstGeom>
          <a:noFill/>
          <a:ln w="0">
            <a:noFill/>
            <a:prstDash val="solid"/>
          </a:ln>
        </p:spPr>
        <p:txBody>
          <a:bodyPr anchor="ctr"/>
          <a:lstStyle>
            <a:defPPr algn="l">
              <a:defRPr sz="2100" b="1">
                <a:solidFill>
                  <a:srgbClr val="FFFFFF"/>
                </a:solidFill>
              </a:defRPr>
            </a:defPPr>
          </a:lstStyle>
          <a:p>
            <a:pPr algn="l">
              <a:defRPr sz="2100" b="1">
                <a:solidFill>
                  <a:srgbClr val="FFFFFF"/>
                </a:solidFill>
              </a:defRPr>
            </a:pPr>
            <a:r>
              <a:rPr sz="2100" b="1">
                <a:solidFill>
                  <a:srgbClr val="FFFFFF"/>
                </a:solidFill>
              </a:rPr>
              <a:t>1  0  0  1  =  1001</a:t>
            </a:r>
          </a:p>
        </p:txBody>
      </p:sp>
      <p:sp>
        <p:nvSpPr>
          <p:cNvPr id="30" name="Rectangle 29">
            <a:extLst>
              <a:ext uri="{FF2B5EF4-FFF2-40B4-BE49-F238E27FC236}">
                <a16:creationId xmlns:a16="http://schemas.microsoft.com/office/drawing/2014/main" id="{80FA2802-A286-48B1-8C20-C48B94010BB3}"/>
              </a:ext>
            </a:extLst>
          </p:cNvPr>
          <p:cNvSpPr>
            <a:spLocks noGrp="1"/>
          </p:cNvSpPr>
          <p:nvPr/>
        </p:nvSpPr>
        <p:spPr>
          <a:xfrm>
            <a:off x="5334000" y="5448300"/>
            <a:ext cx="5810250" cy="428625"/>
          </a:xfrm>
          <a:prstGeom prst="rect">
            <a:avLst/>
          </a:prstGeom>
          <a:noFill/>
          <a:ln w="0">
            <a:noFill/>
            <a:prstDash val="solid"/>
          </a:ln>
        </p:spPr>
        <p:txBody>
          <a:bodyPr anchor="ctr"/>
          <a:lstStyle>
            <a:defPPr algn="l">
              <a:defRPr sz="1425" b="1">
                <a:solidFill>
                  <a:srgbClr val="5C707D"/>
                </a:solidFill>
              </a:defRPr>
            </a:defPPr>
          </a:lstStyle>
          <a:p>
            <a:pPr algn="l">
              <a:defRPr sz="1425" b="1">
                <a:solidFill>
                  <a:srgbClr val="5C707D"/>
                </a:solidFill>
              </a:defRPr>
            </a:pPr>
            <a:r>
              <a:rPr sz="1425" b="1">
                <a:solidFill>
                  <a:srgbClr val="5C707D"/>
                </a:solidFill>
              </a:rPr>
              <a:t>The new bit is always calculated from the result above it.</a:t>
            </a:r>
          </a:p>
        </p:txBody>
      </p:sp>
    </p:spTree>
    <p:extLst>
      <p:ext uri="{BB962C8B-B14F-4D97-AF65-F5344CB8AC3E}">
        <p14:creationId xmlns:p14="http://schemas.microsoft.com/office/powerpoint/2010/main" val="585303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3A4D"/>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C83A824-BF4B-4A79-9907-042F13CBA2EC}"/>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EDE71B03-5D51-45A7-93EF-DB4CEAC3BC2C}"/>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FFFFFF"/>
                </a:solidFill>
              </a:defRPr>
            </a:defPPr>
          </a:lstStyle>
          <a:p>
            <a:pPr algn="l">
              <a:defRPr sz="2775" b="1">
                <a:solidFill>
                  <a:srgbClr val="FFFFFF"/>
                </a:solidFill>
              </a:defRPr>
            </a:pPr>
            <a:r>
              <a:rPr sz="2775" b="1">
                <a:solidFill>
                  <a:srgbClr val="FFFFFF"/>
                </a:solidFill>
              </a:rPr>
              <a:t>WHY THE XOR CHAIN WORKS</a:t>
            </a:r>
          </a:p>
        </p:txBody>
      </p:sp>
      <p:sp>
        <p:nvSpPr>
          <p:cNvPr id="3" name="Straight Connector 2">
            <a:extLst>
              <a:ext uri="{FF2B5EF4-FFF2-40B4-BE49-F238E27FC236}">
                <a16:creationId xmlns:a16="http://schemas.microsoft.com/office/drawing/2014/main" id="{E7FB1045-E846-43A4-B5C1-DD4170485410}"/>
              </a:ext>
            </a:extLst>
          </p:cNvPr>
          <p:cNvSpPr>
            <a:spLocks noGrp="1"/>
          </p:cNvSpPr>
          <p:nvPr/>
        </p:nvSpPr>
        <p:spPr>
          <a:xfrm>
            <a:off x="666750" y="1066800"/>
            <a:ext cx="10858500" cy="0"/>
          </a:xfrm>
          <a:prstGeom prst="line">
            <a:avLst/>
          </a:prstGeom>
          <a:noFill/>
          <a:ln w="19050">
            <a:solidFill>
              <a:srgbClr val="5C707D"/>
            </a:solidFill>
            <a:prstDash val="solid"/>
          </a:ln>
        </p:spPr>
      </p:sp>
      <p:sp>
        <p:nvSpPr>
          <p:cNvPr id="4" name="Rectangle 3">
            <a:extLst>
              <a:ext uri="{FF2B5EF4-FFF2-40B4-BE49-F238E27FC236}">
                <a16:creationId xmlns:a16="http://schemas.microsoft.com/office/drawing/2014/main" id="{7A2281BC-1F62-4051-9DDE-3A6F48D758E0}"/>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BDE5E1"/>
                </a:solidFill>
              </a:defRPr>
            </a:defPPr>
          </a:lstStyle>
          <a:p>
            <a:pPr algn="l">
              <a:defRPr sz="975" b="1">
                <a:solidFill>
                  <a:srgbClr val="BDE5E1"/>
                </a:solidFill>
              </a:defRPr>
            </a:pPr>
            <a:r>
              <a:rPr sz="975" b="1">
                <a:solidFill>
                  <a:srgbClr val="BDE5E1"/>
                </a:solidFill>
              </a:rPr>
              <a:t>DDCA  •  GRAY CODE TO BINARY</a:t>
            </a:r>
          </a:p>
        </p:txBody>
      </p:sp>
      <p:sp>
        <p:nvSpPr>
          <p:cNvPr id="5" name="Rectangle 4">
            <a:extLst>
              <a:ext uri="{FF2B5EF4-FFF2-40B4-BE49-F238E27FC236}">
                <a16:creationId xmlns:a16="http://schemas.microsoft.com/office/drawing/2014/main" id="{57B9A96D-3CBB-4E1A-A864-2EA603D26CB1}"/>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BDE5E1"/>
                </a:solidFill>
              </a:defRPr>
            </a:defPPr>
          </a:lstStyle>
          <a:p>
            <a:pPr algn="r">
              <a:defRPr sz="975" b="1">
                <a:solidFill>
                  <a:srgbClr val="BDE5E1"/>
                </a:solidFill>
              </a:defRPr>
            </a:pPr>
            <a:r>
              <a:rPr sz="975" b="1">
                <a:solidFill>
                  <a:srgbClr val="BDE5E1"/>
                </a:solidFill>
              </a:rPr>
              <a:t>PRESENTER 3   |   09</a:t>
            </a:r>
          </a:p>
        </p:txBody>
      </p:sp>
      <p:sp>
        <p:nvSpPr>
          <p:cNvPr id="6" name="Rectangle 5">
            <a:extLst>
              <a:ext uri="{FF2B5EF4-FFF2-40B4-BE49-F238E27FC236}">
                <a16:creationId xmlns:a16="http://schemas.microsoft.com/office/drawing/2014/main" id="{79E0CF0F-0E14-4E82-AAE0-5B6BE57957B6}"/>
              </a:ext>
            </a:extLst>
          </p:cNvPr>
          <p:cNvSpPr>
            <a:spLocks noGrp="1"/>
          </p:cNvSpPr>
          <p:nvPr/>
        </p:nvSpPr>
        <p:spPr>
          <a:xfrm>
            <a:off x="723900" y="1314450"/>
            <a:ext cx="6858000" cy="323850"/>
          </a:xfrm>
          <a:prstGeom prst="rect">
            <a:avLst/>
          </a:prstGeom>
          <a:noFill/>
          <a:ln w="0">
            <a:noFill/>
            <a:prstDash val="solid"/>
          </a:ln>
        </p:spPr>
        <p:txBody>
          <a:bodyPr anchor="ctr"/>
          <a:lstStyle>
            <a:defPPr algn="l">
              <a:defRPr sz="1350" b="1">
                <a:solidFill>
                  <a:srgbClr val="BDE5E1"/>
                </a:solidFill>
              </a:defRPr>
            </a:defPPr>
          </a:lstStyle>
          <a:p>
            <a:pPr algn="l">
              <a:defRPr sz="1350" b="1">
                <a:solidFill>
                  <a:srgbClr val="BDE5E1"/>
                </a:solidFill>
              </a:defRPr>
            </a:pPr>
            <a:r>
              <a:rPr sz="1350" b="1">
                <a:solidFill>
                  <a:srgbClr val="BDE5E1"/>
                </a:solidFill>
              </a:rPr>
              <a:t>A SIMPLE RULE REPEATED FOUR TIMES</a:t>
            </a:r>
          </a:p>
        </p:txBody>
      </p:sp>
      <p:sp>
        <p:nvSpPr>
          <p:cNvPr id="7" name="Rectangle 6">
            <a:extLst>
              <a:ext uri="{FF2B5EF4-FFF2-40B4-BE49-F238E27FC236}">
                <a16:creationId xmlns:a16="http://schemas.microsoft.com/office/drawing/2014/main" id="{6151A4A8-5841-4868-AD83-8B6F25197419}"/>
              </a:ext>
            </a:extLst>
          </p:cNvPr>
          <p:cNvSpPr>
            <a:spLocks noGrp="1"/>
          </p:cNvSpPr>
          <p:nvPr/>
        </p:nvSpPr>
        <p:spPr>
          <a:xfrm>
            <a:off x="800100" y="2076450"/>
            <a:ext cx="876300" cy="647700"/>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01</a:t>
            </a:r>
          </a:p>
        </p:txBody>
      </p:sp>
      <p:sp>
        <p:nvSpPr>
          <p:cNvPr id="8" name="Rectangle 7">
            <a:extLst>
              <a:ext uri="{FF2B5EF4-FFF2-40B4-BE49-F238E27FC236}">
                <a16:creationId xmlns:a16="http://schemas.microsoft.com/office/drawing/2014/main" id="{D646C070-C801-425F-BCC7-41D42D2E04D6}"/>
              </a:ext>
            </a:extLst>
          </p:cNvPr>
          <p:cNvSpPr>
            <a:spLocks noGrp="1"/>
          </p:cNvSpPr>
          <p:nvPr/>
        </p:nvSpPr>
        <p:spPr>
          <a:xfrm>
            <a:off x="1943100" y="2076450"/>
            <a:ext cx="7620000" cy="34290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B3 starts the binary result</a:t>
            </a:r>
          </a:p>
        </p:txBody>
      </p:sp>
      <p:sp>
        <p:nvSpPr>
          <p:cNvPr id="9" name="Rectangle 8">
            <a:extLst>
              <a:ext uri="{FF2B5EF4-FFF2-40B4-BE49-F238E27FC236}">
                <a16:creationId xmlns:a16="http://schemas.microsoft.com/office/drawing/2014/main" id="{DAE766DA-10CF-4909-9B59-FDB08DD18451}"/>
              </a:ext>
            </a:extLst>
          </p:cNvPr>
          <p:cNvSpPr>
            <a:spLocks noGrp="1"/>
          </p:cNvSpPr>
          <p:nvPr/>
        </p:nvSpPr>
        <p:spPr>
          <a:xfrm>
            <a:off x="1943100" y="2476500"/>
            <a:ext cx="8572500" cy="447675"/>
          </a:xfrm>
          <a:prstGeom prst="rect">
            <a:avLst/>
          </a:prstGeom>
          <a:noFill/>
          <a:ln w="0">
            <a:noFill/>
            <a:prstDash val="solid"/>
          </a:ln>
        </p:spPr>
        <p:txBody>
          <a:bodyPr anchor="ctr"/>
          <a:lstStyle>
            <a:defPPr algn="l">
              <a:defRPr sz="1350" b="0">
                <a:solidFill>
                  <a:srgbClr val="BDE5E1"/>
                </a:solidFill>
              </a:defRPr>
            </a:defPPr>
          </a:lstStyle>
          <a:p>
            <a:pPr algn="l">
              <a:defRPr sz="1350" b="0">
                <a:solidFill>
                  <a:srgbClr val="BDE5E1"/>
                </a:solidFill>
              </a:defRPr>
            </a:pPr>
            <a:r>
              <a:rPr sz="1350" b="0">
                <a:solidFill>
                  <a:srgbClr val="BDE5E1"/>
                </a:solidFill>
              </a:rPr>
              <a:t>The most significant bit is shared by Gray and binary.</a:t>
            </a:r>
          </a:p>
        </p:txBody>
      </p:sp>
      <p:sp>
        <p:nvSpPr>
          <p:cNvPr id="10" name="Rectangle 9">
            <a:extLst>
              <a:ext uri="{FF2B5EF4-FFF2-40B4-BE49-F238E27FC236}">
                <a16:creationId xmlns:a16="http://schemas.microsoft.com/office/drawing/2014/main" id="{CD16DC65-647A-462A-8F0D-0794DE3E8980}"/>
              </a:ext>
            </a:extLst>
          </p:cNvPr>
          <p:cNvSpPr>
            <a:spLocks noGrp="1"/>
          </p:cNvSpPr>
          <p:nvPr/>
        </p:nvSpPr>
        <p:spPr>
          <a:xfrm>
            <a:off x="800100" y="3238500"/>
            <a:ext cx="876300" cy="647700"/>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02</a:t>
            </a:r>
          </a:p>
        </p:txBody>
      </p:sp>
      <p:sp>
        <p:nvSpPr>
          <p:cNvPr id="11" name="Rectangle 10">
            <a:extLst>
              <a:ext uri="{FF2B5EF4-FFF2-40B4-BE49-F238E27FC236}">
                <a16:creationId xmlns:a16="http://schemas.microsoft.com/office/drawing/2014/main" id="{2CBC886C-E413-43B5-8521-17FA7B5CC571}"/>
              </a:ext>
            </a:extLst>
          </p:cNvPr>
          <p:cNvSpPr>
            <a:spLocks noGrp="1"/>
          </p:cNvSpPr>
          <p:nvPr/>
        </p:nvSpPr>
        <p:spPr>
          <a:xfrm>
            <a:off x="1943100" y="3238500"/>
            <a:ext cx="7620000" cy="34290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Each XOR recovers the next bit</a:t>
            </a:r>
          </a:p>
        </p:txBody>
      </p:sp>
      <p:sp>
        <p:nvSpPr>
          <p:cNvPr id="12" name="Rectangle 11">
            <a:extLst>
              <a:ext uri="{FF2B5EF4-FFF2-40B4-BE49-F238E27FC236}">
                <a16:creationId xmlns:a16="http://schemas.microsoft.com/office/drawing/2014/main" id="{4841B3B5-CAB9-4558-BFE2-04CE571EB74D}"/>
              </a:ext>
            </a:extLst>
          </p:cNvPr>
          <p:cNvSpPr>
            <a:spLocks noGrp="1"/>
          </p:cNvSpPr>
          <p:nvPr/>
        </p:nvSpPr>
        <p:spPr>
          <a:xfrm>
            <a:off x="1943100" y="3638550"/>
            <a:ext cx="8572500" cy="447675"/>
          </a:xfrm>
          <a:prstGeom prst="rect">
            <a:avLst/>
          </a:prstGeom>
          <a:noFill/>
          <a:ln w="0">
            <a:noFill/>
            <a:prstDash val="solid"/>
          </a:ln>
        </p:spPr>
        <p:txBody>
          <a:bodyPr anchor="ctr"/>
          <a:lstStyle>
            <a:defPPr algn="l">
              <a:defRPr sz="1350" b="0">
                <a:solidFill>
                  <a:srgbClr val="BDE5E1"/>
                </a:solidFill>
              </a:defRPr>
            </a:defPPr>
          </a:lstStyle>
          <a:p>
            <a:pPr algn="l">
              <a:defRPr sz="1350" b="0">
                <a:solidFill>
                  <a:srgbClr val="BDE5E1"/>
                </a:solidFill>
              </a:defRPr>
            </a:pPr>
            <a:r>
              <a:rPr sz="1350" b="0">
                <a:solidFill>
                  <a:srgbClr val="BDE5E1"/>
                </a:solidFill>
              </a:rPr>
              <a:t>A change between adjacent Gray positions toggles the binary state.</a:t>
            </a:r>
          </a:p>
        </p:txBody>
      </p:sp>
      <p:sp>
        <p:nvSpPr>
          <p:cNvPr id="13" name="Rectangle 12">
            <a:extLst>
              <a:ext uri="{FF2B5EF4-FFF2-40B4-BE49-F238E27FC236}">
                <a16:creationId xmlns:a16="http://schemas.microsoft.com/office/drawing/2014/main" id="{9BE40B05-B8A6-4E87-B45F-009696D2EE98}"/>
              </a:ext>
            </a:extLst>
          </p:cNvPr>
          <p:cNvSpPr>
            <a:spLocks noGrp="1"/>
          </p:cNvSpPr>
          <p:nvPr/>
        </p:nvSpPr>
        <p:spPr>
          <a:xfrm>
            <a:off x="800100" y="4400550"/>
            <a:ext cx="876300" cy="647700"/>
          </a:xfrm>
          <a:prstGeom prst="rect">
            <a:avLst/>
          </a:prstGeom>
          <a:noFill/>
          <a:ln w="0">
            <a:noFill/>
            <a:prstDash val="solid"/>
          </a:ln>
        </p:spPr>
        <p:txBody>
          <a:bodyPr anchor="ctr"/>
          <a:lstStyle>
            <a:defPPr algn="ctr">
              <a:defRPr sz="2775" b="1">
                <a:solidFill>
                  <a:srgbClr val="F2A65A"/>
                </a:solidFill>
              </a:defRPr>
            </a:defPPr>
          </a:lstStyle>
          <a:p>
            <a:pPr algn="ctr">
              <a:defRPr sz="2775" b="1">
                <a:solidFill>
                  <a:srgbClr val="F2A65A"/>
                </a:solidFill>
              </a:defRPr>
            </a:pPr>
            <a:r>
              <a:rPr sz="2775" b="1">
                <a:solidFill>
                  <a:srgbClr val="F2A65A"/>
                </a:solidFill>
              </a:rPr>
              <a:t>03</a:t>
            </a:r>
          </a:p>
        </p:txBody>
      </p:sp>
      <p:sp>
        <p:nvSpPr>
          <p:cNvPr id="14" name="Rectangle 13">
            <a:extLst>
              <a:ext uri="{FF2B5EF4-FFF2-40B4-BE49-F238E27FC236}">
                <a16:creationId xmlns:a16="http://schemas.microsoft.com/office/drawing/2014/main" id="{77F32032-8846-43F0-B395-51CED7BE1497}"/>
              </a:ext>
            </a:extLst>
          </p:cNvPr>
          <p:cNvSpPr>
            <a:spLocks noGrp="1"/>
          </p:cNvSpPr>
          <p:nvPr/>
        </p:nvSpPr>
        <p:spPr>
          <a:xfrm>
            <a:off x="1943100" y="4400550"/>
            <a:ext cx="7620000" cy="342900"/>
          </a:xfrm>
          <a:prstGeom prst="rect">
            <a:avLst/>
          </a:prstGeom>
          <a:noFill/>
          <a:ln w="0">
            <a:noFill/>
            <a:prstDash val="solid"/>
          </a:ln>
        </p:spPr>
        <p:txBody>
          <a:bodyPr anchor="ctr"/>
          <a:lstStyle>
            <a:defPPr algn="l">
              <a:defRPr sz="1800" b="1">
                <a:solidFill>
                  <a:srgbClr val="FFFFFF"/>
                </a:solidFill>
              </a:defRPr>
            </a:defPPr>
          </a:lstStyle>
          <a:p>
            <a:pPr algn="l">
              <a:defRPr sz="1800" b="1">
                <a:solidFill>
                  <a:srgbClr val="FFFFFF"/>
                </a:solidFill>
              </a:defRPr>
            </a:pPr>
            <a:r>
              <a:rPr sz="1800" b="1">
                <a:solidFill>
                  <a:srgbClr val="FFFFFF"/>
                </a:solidFill>
              </a:rPr>
              <a:t>The result feeds the next stage</a:t>
            </a:r>
          </a:p>
        </p:txBody>
      </p:sp>
      <p:sp>
        <p:nvSpPr>
          <p:cNvPr id="15" name="Rectangle 14">
            <a:extLst>
              <a:ext uri="{FF2B5EF4-FFF2-40B4-BE49-F238E27FC236}">
                <a16:creationId xmlns:a16="http://schemas.microsoft.com/office/drawing/2014/main" id="{B0DA8A00-89C9-46DB-9EAF-9133BA2E9455}"/>
              </a:ext>
            </a:extLst>
          </p:cNvPr>
          <p:cNvSpPr>
            <a:spLocks noGrp="1"/>
          </p:cNvSpPr>
          <p:nvPr/>
        </p:nvSpPr>
        <p:spPr>
          <a:xfrm>
            <a:off x="1943100" y="4800600"/>
            <a:ext cx="8572500" cy="447675"/>
          </a:xfrm>
          <a:prstGeom prst="rect">
            <a:avLst/>
          </a:prstGeom>
          <a:noFill/>
          <a:ln w="0">
            <a:noFill/>
            <a:prstDash val="solid"/>
          </a:ln>
        </p:spPr>
        <p:txBody>
          <a:bodyPr anchor="ctr"/>
          <a:lstStyle>
            <a:defPPr algn="l">
              <a:defRPr sz="1350" b="0">
                <a:solidFill>
                  <a:srgbClr val="BDE5E1"/>
                </a:solidFill>
              </a:defRPr>
            </a:defPPr>
          </a:lstStyle>
          <a:p>
            <a:pPr algn="l">
              <a:defRPr sz="1350" b="0">
                <a:solidFill>
                  <a:srgbClr val="BDE5E1"/>
                </a:solidFill>
              </a:defRPr>
            </a:pPr>
            <a:r>
              <a:rPr sz="1350" b="0">
                <a:solidFill>
                  <a:srgbClr val="BDE5E1"/>
                </a:solidFill>
              </a:rPr>
              <a:t>The chain preserves all earlier information as it moves right.</a:t>
            </a:r>
          </a:p>
        </p:txBody>
      </p:sp>
      <p:sp>
        <p:nvSpPr>
          <p:cNvPr id="16" name="Rectangle 15">
            <a:extLst>
              <a:ext uri="{FF2B5EF4-FFF2-40B4-BE49-F238E27FC236}">
                <a16:creationId xmlns:a16="http://schemas.microsoft.com/office/drawing/2014/main" id="{A18A88E1-C4CA-4BA0-A99D-C1126FC7A5AF}"/>
              </a:ext>
            </a:extLst>
          </p:cNvPr>
          <p:cNvSpPr>
            <a:spLocks noGrp="1"/>
          </p:cNvSpPr>
          <p:nvPr/>
        </p:nvSpPr>
        <p:spPr>
          <a:xfrm>
            <a:off x="790575" y="5753100"/>
            <a:ext cx="10287000" cy="342900"/>
          </a:xfrm>
          <a:prstGeom prst="rect">
            <a:avLst/>
          </a:prstGeom>
          <a:noFill/>
          <a:ln w="0">
            <a:noFill/>
            <a:prstDash val="solid"/>
          </a:ln>
        </p:spPr>
        <p:txBody>
          <a:bodyPr anchor="ctr"/>
          <a:lstStyle>
            <a:defPPr algn="ctr">
              <a:defRPr sz="1425" b="1">
                <a:solidFill>
                  <a:srgbClr val="FFFFFF"/>
                </a:solidFill>
              </a:defRPr>
            </a:defPPr>
          </a:lstStyle>
          <a:p>
            <a:pPr algn="ctr">
              <a:defRPr sz="1425" b="1">
                <a:solidFill>
                  <a:srgbClr val="FFFFFF"/>
                </a:solidFill>
              </a:defRPr>
            </a:pPr>
            <a:r>
              <a:rPr sz="1425" b="1">
                <a:solidFill>
                  <a:srgbClr val="FFFFFF"/>
                </a:solidFill>
              </a:rPr>
              <a:t>No clock  •  No memory  •  One direct wire + three XOR gates</a:t>
            </a:r>
          </a:p>
        </p:txBody>
      </p:sp>
    </p:spTree>
    <p:extLst>
      <p:ext uri="{BB962C8B-B14F-4D97-AF65-F5344CB8AC3E}">
        <p14:creationId xmlns:p14="http://schemas.microsoft.com/office/powerpoint/2010/main" val="1808158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3E98C7A-864A-481C-9CD7-0DE75BC6FFB2}"/>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48D3ECEA-54E9-4BB1-9AD5-2485E0FE6D26}"/>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WHERE GRAY CODE IS USED</a:t>
            </a:r>
          </a:p>
        </p:txBody>
      </p:sp>
      <p:sp>
        <p:nvSpPr>
          <p:cNvPr id="3" name="Straight Connector 2">
            <a:extLst>
              <a:ext uri="{FF2B5EF4-FFF2-40B4-BE49-F238E27FC236}">
                <a16:creationId xmlns:a16="http://schemas.microsoft.com/office/drawing/2014/main" id="{7097DFA3-74EC-406C-A97F-FE22B3815184}"/>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5AF23FD7-FB1D-4492-9564-B73DC594D751}"/>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F4E94B86-841B-4293-9D8C-01D4F4A29838}"/>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4   |   10</a:t>
            </a:r>
          </a:p>
        </p:txBody>
      </p:sp>
      <p:sp>
        <p:nvSpPr>
          <p:cNvPr id="6" name="Rectangle 5">
            <a:extLst>
              <a:ext uri="{FF2B5EF4-FFF2-40B4-BE49-F238E27FC236}">
                <a16:creationId xmlns:a16="http://schemas.microsoft.com/office/drawing/2014/main" id="{DA49C2D6-9CEC-4010-AADA-D3B32D184D63}"/>
              </a:ext>
            </a:extLst>
          </p:cNvPr>
          <p:cNvSpPr>
            <a:spLocks noGrp="1"/>
          </p:cNvSpPr>
          <p:nvPr/>
        </p:nvSpPr>
        <p:spPr>
          <a:xfrm>
            <a:off x="723900" y="1323975"/>
            <a:ext cx="4762500" cy="333375"/>
          </a:xfrm>
          <a:prstGeom prst="rect">
            <a:avLst/>
          </a:prstGeom>
          <a:noFill/>
          <a:ln w="0">
            <a:noFill/>
            <a:prstDash val="solid"/>
          </a:ln>
        </p:spPr>
        <p:txBody>
          <a:bodyPr anchor="ctr"/>
          <a:lstStyle>
            <a:defPPr algn="l">
              <a:defRPr sz="1350" b="1">
                <a:solidFill>
                  <a:srgbClr val="0E7C86"/>
                </a:solidFill>
              </a:defRPr>
            </a:defPPr>
          </a:lstStyle>
          <a:p>
            <a:pPr algn="l">
              <a:defRPr sz="1350" b="1">
                <a:solidFill>
                  <a:srgbClr val="0E7C86"/>
                </a:solidFill>
              </a:defRPr>
            </a:pPr>
            <a:r>
              <a:rPr sz="1350" b="1">
                <a:solidFill>
                  <a:srgbClr val="0E7C86"/>
                </a:solidFill>
              </a:rPr>
              <a:t>POSITION SENSING</a:t>
            </a:r>
          </a:p>
        </p:txBody>
      </p:sp>
      <p:sp>
        <p:nvSpPr>
          <p:cNvPr id="7" name="Rectangle 6">
            <a:extLst>
              <a:ext uri="{FF2B5EF4-FFF2-40B4-BE49-F238E27FC236}">
                <a16:creationId xmlns:a16="http://schemas.microsoft.com/office/drawing/2014/main" id="{AD87AE62-8972-498B-9618-7B24C83CDA05}"/>
              </a:ext>
            </a:extLst>
          </p:cNvPr>
          <p:cNvSpPr>
            <a:spLocks noGrp="1"/>
          </p:cNvSpPr>
          <p:nvPr/>
        </p:nvSpPr>
        <p:spPr>
          <a:xfrm>
            <a:off x="723900" y="1790700"/>
            <a:ext cx="5715000" cy="876300"/>
          </a:xfrm>
          <a:prstGeom prst="rect">
            <a:avLst/>
          </a:prstGeom>
          <a:noFill/>
          <a:ln w="0">
            <a:noFill/>
            <a:prstDash val="solid"/>
          </a:ln>
        </p:spPr>
        <p:txBody>
          <a:bodyPr anchor="ctr"/>
          <a:lstStyle>
            <a:defPPr algn="l">
              <a:defRPr sz="2100" b="1">
                <a:solidFill>
                  <a:srgbClr val="142B3B"/>
                </a:solidFill>
              </a:defRPr>
            </a:defPPr>
          </a:lstStyle>
          <a:p>
            <a:pPr algn="l">
              <a:defRPr sz="2100" b="1">
                <a:solidFill>
                  <a:srgbClr val="142B3B"/>
                </a:solidFill>
              </a:defRPr>
            </a:pPr>
            <a:r>
              <a:rPr sz="2100" b="1">
                <a:solidFill>
                  <a:srgbClr val="142B3B"/>
                </a:solidFill>
              </a:rPr>
              <a:t>A rotary encoder reports the angle or position of a rotating shaft.</a:t>
            </a:r>
          </a:p>
        </p:txBody>
      </p:sp>
      <p:sp>
        <p:nvSpPr>
          <p:cNvPr id="8" name="Rectangle: Rounded Corners 7">
            <a:extLst>
              <a:ext uri="{FF2B5EF4-FFF2-40B4-BE49-F238E27FC236}">
                <a16:creationId xmlns:a16="http://schemas.microsoft.com/office/drawing/2014/main" id="{F4733980-2A3D-409F-81F7-1E1E4B15E93E}"/>
              </a:ext>
            </a:extLst>
          </p:cNvPr>
          <p:cNvSpPr>
            <a:spLocks noGrp="1"/>
          </p:cNvSpPr>
          <p:nvPr/>
        </p:nvSpPr>
        <p:spPr>
          <a:xfrm>
            <a:off x="762000" y="3162300"/>
            <a:ext cx="2876550" cy="457200"/>
          </a:xfrm>
          <a:prstGeom prst="roundRect">
            <a:avLst>
              <a:gd name="adj" fmla="val 16667"/>
            </a:avLst>
          </a:prstGeom>
          <a:solidFill>
            <a:srgbClr val="E7EFF0"/>
          </a:solidFill>
          <a:ln w="0">
            <a:noFill/>
            <a:prstDash val="solid"/>
          </a:ln>
        </p:spPr>
      </p:sp>
      <p:sp>
        <p:nvSpPr>
          <p:cNvPr id="9" name="Rectangle 8">
            <a:extLst>
              <a:ext uri="{FF2B5EF4-FFF2-40B4-BE49-F238E27FC236}">
                <a16:creationId xmlns:a16="http://schemas.microsoft.com/office/drawing/2014/main" id="{7A01FE9D-393D-443B-8DF3-45D6036111C1}"/>
              </a:ext>
            </a:extLst>
          </p:cNvPr>
          <p:cNvSpPr>
            <a:spLocks noGrp="1"/>
          </p:cNvSpPr>
          <p:nvPr/>
        </p:nvSpPr>
        <p:spPr>
          <a:xfrm>
            <a:off x="904875" y="3209925"/>
            <a:ext cx="2571750" cy="342900"/>
          </a:xfrm>
          <a:prstGeom prst="rect">
            <a:avLst/>
          </a:prstGeom>
          <a:noFill/>
          <a:ln w="0">
            <a:noFill/>
            <a:prstDash val="solid"/>
          </a:ln>
        </p:spPr>
        <p:txBody>
          <a:bodyPr anchor="ctr"/>
          <a:lstStyle>
            <a:defPPr algn="ctr">
              <a:defRPr sz="1200" b="1">
                <a:solidFill>
                  <a:srgbClr val="142B3B"/>
                </a:solidFill>
              </a:defRPr>
            </a:defPPr>
          </a:lstStyle>
          <a:p>
            <a:pPr algn="ctr">
              <a:defRPr sz="1200" b="1">
                <a:solidFill>
                  <a:srgbClr val="142B3B"/>
                </a:solidFill>
              </a:defRPr>
            </a:pPr>
            <a:r>
              <a:rPr sz="1200" b="1">
                <a:solidFill>
                  <a:srgbClr val="142B3B"/>
                </a:solidFill>
              </a:rPr>
              <a:t>ROTATING SHAFT</a:t>
            </a:r>
          </a:p>
        </p:txBody>
      </p:sp>
      <p:sp>
        <p:nvSpPr>
          <p:cNvPr id="10" name="Rectangle 9">
            <a:extLst>
              <a:ext uri="{FF2B5EF4-FFF2-40B4-BE49-F238E27FC236}">
                <a16:creationId xmlns:a16="http://schemas.microsoft.com/office/drawing/2014/main" id="{6FA241E7-9BBA-4F6F-B903-DD02F8264567}"/>
              </a:ext>
            </a:extLst>
          </p:cNvPr>
          <p:cNvSpPr>
            <a:spLocks noGrp="1"/>
          </p:cNvSpPr>
          <p:nvPr/>
        </p:nvSpPr>
        <p:spPr>
          <a:xfrm>
            <a:off x="4095750" y="319087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changes position</a:t>
            </a:r>
          </a:p>
        </p:txBody>
      </p:sp>
      <p:sp>
        <p:nvSpPr>
          <p:cNvPr id="11" name="Rectangle 10">
            <a:extLst>
              <a:ext uri="{FF2B5EF4-FFF2-40B4-BE49-F238E27FC236}">
                <a16:creationId xmlns:a16="http://schemas.microsoft.com/office/drawing/2014/main" id="{9AE3D00A-F567-4311-8A90-F18551BC026E}"/>
              </a:ext>
            </a:extLst>
          </p:cNvPr>
          <p:cNvSpPr>
            <a:spLocks noGrp="1"/>
          </p:cNvSpPr>
          <p:nvPr/>
        </p:nvSpPr>
        <p:spPr>
          <a:xfrm>
            <a:off x="1943100" y="3590925"/>
            <a:ext cx="457200" cy="209550"/>
          </a:xfrm>
          <a:prstGeom prst="rect">
            <a:avLst/>
          </a:prstGeom>
          <a:noFill/>
          <a:ln w="0">
            <a:noFill/>
            <a:prstDash val="solid"/>
          </a:ln>
        </p:spPr>
        <p:txBody>
          <a:bodyPr anchor="ctr"/>
          <a:lstStyle>
            <a:defPPr algn="ctr">
              <a:defRPr sz="1650" b="1">
                <a:solidFill>
                  <a:srgbClr val="F2A65A"/>
                </a:solidFill>
              </a:defRPr>
            </a:defPPr>
          </a:lstStyle>
          <a:p>
            <a:pPr algn="ctr">
              <a:defRPr sz="1650" b="1">
                <a:solidFill>
                  <a:srgbClr val="F2A65A"/>
                </a:solidFill>
              </a:defRPr>
            </a:pPr>
            <a:r>
              <a:rPr sz="1650" b="1">
                <a:solidFill>
                  <a:srgbClr val="F2A65A"/>
                </a:solidFill>
              </a:rPr>
              <a:t>↓</a:t>
            </a:r>
          </a:p>
        </p:txBody>
      </p:sp>
      <p:sp>
        <p:nvSpPr>
          <p:cNvPr id="12" name="Rectangle: Rounded Corners 11">
            <a:extLst>
              <a:ext uri="{FF2B5EF4-FFF2-40B4-BE49-F238E27FC236}">
                <a16:creationId xmlns:a16="http://schemas.microsoft.com/office/drawing/2014/main" id="{2216594E-6AC7-4079-AA3F-E718100CA555}"/>
              </a:ext>
            </a:extLst>
          </p:cNvPr>
          <p:cNvSpPr>
            <a:spLocks noGrp="1"/>
          </p:cNvSpPr>
          <p:nvPr/>
        </p:nvSpPr>
        <p:spPr>
          <a:xfrm>
            <a:off x="762000" y="3752850"/>
            <a:ext cx="2876550" cy="457200"/>
          </a:xfrm>
          <a:prstGeom prst="roundRect">
            <a:avLst>
              <a:gd name="adj" fmla="val 16667"/>
            </a:avLst>
          </a:prstGeom>
          <a:solidFill>
            <a:srgbClr val="E7EFF0"/>
          </a:solidFill>
          <a:ln w="0">
            <a:noFill/>
            <a:prstDash val="solid"/>
          </a:ln>
        </p:spPr>
      </p:sp>
      <p:sp>
        <p:nvSpPr>
          <p:cNvPr id="13" name="Rectangle 12">
            <a:extLst>
              <a:ext uri="{FF2B5EF4-FFF2-40B4-BE49-F238E27FC236}">
                <a16:creationId xmlns:a16="http://schemas.microsoft.com/office/drawing/2014/main" id="{F1491F9C-46A8-4DC5-BAB9-20F5C80582BC}"/>
              </a:ext>
            </a:extLst>
          </p:cNvPr>
          <p:cNvSpPr>
            <a:spLocks noGrp="1"/>
          </p:cNvSpPr>
          <p:nvPr/>
        </p:nvSpPr>
        <p:spPr>
          <a:xfrm>
            <a:off x="904875" y="3800475"/>
            <a:ext cx="2571750" cy="342900"/>
          </a:xfrm>
          <a:prstGeom prst="rect">
            <a:avLst/>
          </a:prstGeom>
          <a:noFill/>
          <a:ln w="0">
            <a:noFill/>
            <a:prstDash val="solid"/>
          </a:ln>
        </p:spPr>
        <p:txBody>
          <a:bodyPr anchor="ctr"/>
          <a:lstStyle>
            <a:defPPr algn="ctr">
              <a:defRPr sz="1200" b="1">
                <a:solidFill>
                  <a:srgbClr val="142B3B"/>
                </a:solidFill>
              </a:defRPr>
            </a:defPPr>
          </a:lstStyle>
          <a:p>
            <a:pPr algn="ctr">
              <a:defRPr sz="1200" b="1">
                <a:solidFill>
                  <a:srgbClr val="142B3B"/>
                </a:solidFill>
              </a:defRPr>
            </a:pPr>
            <a:r>
              <a:rPr sz="1200" b="1">
                <a:solidFill>
                  <a:srgbClr val="142B3B"/>
                </a:solidFill>
              </a:rPr>
              <a:t>GRAY-CODE SENSOR</a:t>
            </a:r>
          </a:p>
        </p:txBody>
      </p:sp>
      <p:sp>
        <p:nvSpPr>
          <p:cNvPr id="14" name="Rectangle 13">
            <a:extLst>
              <a:ext uri="{FF2B5EF4-FFF2-40B4-BE49-F238E27FC236}">
                <a16:creationId xmlns:a16="http://schemas.microsoft.com/office/drawing/2014/main" id="{A066EB22-55E6-4EE3-B4C0-47DC2BBC866A}"/>
              </a:ext>
            </a:extLst>
          </p:cNvPr>
          <p:cNvSpPr>
            <a:spLocks noGrp="1"/>
          </p:cNvSpPr>
          <p:nvPr/>
        </p:nvSpPr>
        <p:spPr>
          <a:xfrm>
            <a:off x="4095750" y="378142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one bit changes</a:t>
            </a:r>
          </a:p>
        </p:txBody>
      </p:sp>
      <p:sp>
        <p:nvSpPr>
          <p:cNvPr id="15" name="Rectangle 14">
            <a:extLst>
              <a:ext uri="{FF2B5EF4-FFF2-40B4-BE49-F238E27FC236}">
                <a16:creationId xmlns:a16="http://schemas.microsoft.com/office/drawing/2014/main" id="{9D54A667-9A21-4D4B-B14B-DEBA5BE32614}"/>
              </a:ext>
            </a:extLst>
          </p:cNvPr>
          <p:cNvSpPr>
            <a:spLocks noGrp="1"/>
          </p:cNvSpPr>
          <p:nvPr/>
        </p:nvSpPr>
        <p:spPr>
          <a:xfrm>
            <a:off x="1943100" y="4181475"/>
            <a:ext cx="457200" cy="209550"/>
          </a:xfrm>
          <a:prstGeom prst="rect">
            <a:avLst/>
          </a:prstGeom>
          <a:noFill/>
          <a:ln w="0">
            <a:noFill/>
            <a:prstDash val="solid"/>
          </a:ln>
        </p:spPr>
        <p:txBody>
          <a:bodyPr anchor="ctr"/>
          <a:lstStyle>
            <a:defPPr algn="ctr">
              <a:defRPr sz="1650" b="1">
                <a:solidFill>
                  <a:srgbClr val="F2A65A"/>
                </a:solidFill>
              </a:defRPr>
            </a:defPPr>
          </a:lstStyle>
          <a:p>
            <a:pPr algn="ctr">
              <a:defRPr sz="1650" b="1">
                <a:solidFill>
                  <a:srgbClr val="F2A65A"/>
                </a:solidFill>
              </a:defRPr>
            </a:pPr>
            <a:r>
              <a:rPr sz="1650" b="1">
                <a:solidFill>
                  <a:srgbClr val="F2A65A"/>
                </a:solidFill>
              </a:rPr>
              <a:t>↓</a:t>
            </a:r>
          </a:p>
        </p:txBody>
      </p:sp>
      <p:sp>
        <p:nvSpPr>
          <p:cNvPr id="16" name="Rectangle: Rounded Corners 15">
            <a:extLst>
              <a:ext uri="{FF2B5EF4-FFF2-40B4-BE49-F238E27FC236}">
                <a16:creationId xmlns:a16="http://schemas.microsoft.com/office/drawing/2014/main" id="{AC9DE469-81BF-4A88-903F-54A37BBC8673}"/>
              </a:ext>
            </a:extLst>
          </p:cNvPr>
          <p:cNvSpPr>
            <a:spLocks noGrp="1"/>
          </p:cNvSpPr>
          <p:nvPr/>
        </p:nvSpPr>
        <p:spPr>
          <a:xfrm>
            <a:off x="762000" y="4343400"/>
            <a:ext cx="2876550" cy="457200"/>
          </a:xfrm>
          <a:prstGeom prst="roundRect">
            <a:avLst>
              <a:gd name="adj" fmla="val 16667"/>
            </a:avLst>
          </a:prstGeom>
          <a:solidFill>
            <a:srgbClr val="142B3B"/>
          </a:solidFill>
          <a:ln w="0">
            <a:noFill/>
            <a:prstDash val="solid"/>
          </a:ln>
        </p:spPr>
      </p:sp>
      <p:sp>
        <p:nvSpPr>
          <p:cNvPr id="17" name="Rectangle 16">
            <a:extLst>
              <a:ext uri="{FF2B5EF4-FFF2-40B4-BE49-F238E27FC236}">
                <a16:creationId xmlns:a16="http://schemas.microsoft.com/office/drawing/2014/main" id="{4EA355BB-3E69-47D0-BE05-EC14C83381E7}"/>
              </a:ext>
            </a:extLst>
          </p:cNvPr>
          <p:cNvSpPr>
            <a:spLocks noGrp="1"/>
          </p:cNvSpPr>
          <p:nvPr/>
        </p:nvSpPr>
        <p:spPr>
          <a:xfrm>
            <a:off x="904875" y="4391025"/>
            <a:ext cx="2571750" cy="342900"/>
          </a:xfrm>
          <a:prstGeom prst="rect">
            <a:avLst/>
          </a:prstGeom>
          <a:noFill/>
          <a:ln w="0">
            <a:noFill/>
            <a:prstDash val="solid"/>
          </a:ln>
        </p:spPr>
        <p:txBody>
          <a:bodyPr anchor="ctr"/>
          <a:lstStyle>
            <a:defPPr algn="ctr">
              <a:defRPr sz="1200" b="1">
                <a:solidFill>
                  <a:srgbClr val="FFFFFF"/>
                </a:solidFill>
              </a:defRPr>
            </a:defPPr>
          </a:lstStyle>
          <a:p>
            <a:pPr algn="ctr">
              <a:defRPr sz="1200" b="1">
                <a:solidFill>
                  <a:srgbClr val="FFFFFF"/>
                </a:solidFill>
              </a:defRPr>
            </a:pPr>
            <a:r>
              <a:rPr sz="1200" b="1">
                <a:solidFill>
                  <a:srgbClr val="FFFFFF"/>
                </a:solidFill>
              </a:rPr>
              <a:t>CONVERTER</a:t>
            </a:r>
          </a:p>
        </p:txBody>
      </p:sp>
      <p:sp>
        <p:nvSpPr>
          <p:cNvPr id="18" name="Rectangle 17">
            <a:extLst>
              <a:ext uri="{FF2B5EF4-FFF2-40B4-BE49-F238E27FC236}">
                <a16:creationId xmlns:a16="http://schemas.microsoft.com/office/drawing/2014/main" id="{DCC8E850-12AA-40AC-8343-2EE20A0D52D1}"/>
              </a:ext>
            </a:extLst>
          </p:cNvPr>
          <p:cNvSpPr>
            <a:spLocks noGrp="1"/>
          </p:cNvSpPr>
          <p:nvPr/>
        </p:nvSpPr>
        <p:spPr>
          <a:xfrm>
            <a:off x="4095750" y="437197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forms binary value</a:t>
            </a:r>
          </a:p>
        </p:txBody>
      </p:sp>
      <p:sp>
        <p:nvSpPr>
          <p:cNvPr id="19" name="Rectangle 18">
            <a:extLst>
              <a:ext uri="{FF2B5EF4-FFF2-40B4-BE49-F238E27FC236}">
                <a16:creationId xmlns:a16="http://schemas.microsoft.com/office/drawing/2014/main" id="{44E34A3E-9C89-4EAB-8AE6-38B796ADED1B}"/>
              </a:ext>
            </a:extLst>
          </p:cNvPr>
          <p:cNvSpPr>
            <a:spLocks noGrp="1"/>
          </p:cNvSpPr>
          <p:nvPr/>
        </p:nvSpPr>
        <p:spPr>
          <a:xfrm>
            <a:off x="1943100" y="4772025"/>
            <a:ext cx="457200" cy="209550"/>
          </a:xfrm>
          <a:prstGeom prst="rect">
            <a:avLst/>
          </a:prstGeom>
          <a:noFill/>
          <a:ln w="0">
            <a:noFill/>
            <a:prstDash val="solid"/>
          </a:ln>
        </p:spPr>
        <p:txBody>
          <a:bodyPr anchor="ctr"/>
          <a:lstStyle>
            <a:defPPr algn="ctr">
              <a:defRPr sz="1650" b="1">
                <a:solidFill>
                  <a:srgbClr val="F2A65A"/>
                </a:solidFill>
              </a:defRPr>
            </a:defPPr>
          </a:lstStyle>
          <a:p>
            <a:pPr algn="ctr">
              <a:defRPr sz="1650" b="1">
                <a:solidFill>
                  <a:srgbClr val="F2A65A"/>
                </a:solidFill>
              </a:defRPr>
            </a:pPr>
            <a:r>
              <a:rPr sz="1650" b="1">
                <a:solidFill>
                  <a:srgbClr val="F2A65A"/>
                </a:solidFill>
              </a:rPr>
              <a:t>↓</a:t>
            </a:r>
          </a:p>
        </p:txBody>
      </p:sp>
      <p:sp>
        <p:nvSpPr>
          <p:cNvPr id="20" name="Rectangle: Rounded Corners 19">
            <a:extLst>
              <a:ext uri="{FF2B5EF4-FFF2-40B4-BE49-F238E27FC236}">
                <a16:creationId xmlns:a16="http://schemas.microsoft.com/office/drawing/2014/main" id="{4E34C209-F041-4FF9-AA99-53519738A100}"/>
              </a:ext>
            </a:extLst>
          </p:cNvPr>
          <p:cNvSpPr>
            <a:spLocks noGrp="1"/>
          </p:cNvSpPr>
          <p:nvPr/>
        </p:nvSpPr>
        <p:spPr>
          <a:xfrm>
            <a:off x="762000" y="4933950"/>
            <a:ext cx="2876550" cy="457200"/>
          </a:xfrm>
          <a:prstGeom prst="roundRect">
            <a:avLst>
              <a:gd name="adj" fmla="val 16667"/>
            </a:avLst>
          </a:prstGeom>
          <a:solidFill>
            <a:srgbClr val="E7EFF0"/>
          </a:solidFill>
          <a:ln w="0">
            <a:noFill/>
            <a:prstDash val="solid"/>
          </a:ln>
        </p:spPr>
      </p:sp>
      <p:sp>
        <p:nvSpPr>
          <p:cNvPr id="21" name="Rectangle 20">
            <a:extLst>
              <a:ext uri="{FF2B5EF4-FFF2-40B4-BE49-F238E27FC236}">
                <a16:creationId xmlns:a16="http://schemas.microsoft.com/office/drawing/2014/main" id="{E620237B-B29F-4361-A3B7-FC46B488A4A8}"/>
              </a:ext>
            </a:extLst>
          </p:cNvPr>
          <p:cNvSpPr>
            <a:spLocks noGrp="1"/>
          </p:cNvSpPr>
          <p:nvPr/>
        </p:nvSpPr>
        <p:spPr>
          <a:xfrm>
            <a:off x="904875" y="4981575"/>
            <a:ext cx="2571750" cy="342900"/>
          </a:xfrm>
          <a:prstGeom prst="rect">
            <a:avLst/>
          </a:prstGeom>
          <a:noFill/>
          <a:ln w="0">
            <a:noFill/>
            <a:prstDash val="solid"/>
          </a:ln>
        </p:spPr>
        <p:txBody>
          <a:bodyPr anchor="ctr"/>
          <a:lstStyle>
            <a:defPPr algn="ctr">
              <a:defRPr sz="1200" b="1">
                <a:solidFill>
                  <a:srgbClr val="142B3B"/>
                </a:solidFill>
              </a:defRPr>
            </a:defPPr>
          </a:lstStyle>
          <a:p>
            <a:pPr algn="ctr">
              <a:defRPr sz="1200" b="1">
                <a:solidFill>
                  <a:srgbClr val="142B3B"/>
                </a:solidFill>
              </a:defRPr>
            </a:pPr>
            <a:r>
              <a:rPr sz="1200" b="1">
                <a:solidFill>
                  <a:srgbClr val="142B3B"/>
                </a:solidFill>
              </a:rPr>
              <a:t>CONTROLLER</a:t>
            </a:r>
          </a:p>
        </p:txBody>
      </p:sp>
      <p:sp>
        <p:nvSpPr>
          <p:cNvPr id="22" name="Rectangle 21">
            <a:extLst>
              <a:ext uri="{FF2B5EF4-FFF2-40B4-BE49-F238E27FC236}">
                <a16:creationId xmlns:a16="http://schemas.microsoft.com/office/drawing/2014/main" id="{67ED73A4-BD09-44CF-8A10-F5E3BD72B79B}"/>
              </a:ext>
            </a:extLst>
          </p:cNvPr>
          <p:cNvSpPr>
            <a:spLocks noGrp="1"/>
          </p:cNvSpPr>
          <p:nvPr/>
        </p:nvSpPr>
        <p:spPr>
          <a:xfrm>
            <a:off x="4095750" y="4962525"/>
            <a:ext cx="4857750" cy="361950"/>
          </a:xfrm>
          <a:prstGeom prst="rect">
            <a:avLst/>
          </a:prstGeom>
          <a:noFill/>
          <a:ln w="0">
            <a:noFill/>
            <a:prstDash val="solid"/>
          </a:ln>
        </p:spPr>
        <p:txBody>
          <a:bodyPr anchor="ctr"/>
          <a:lstStyle>
            <a:defPPr algn="l">
              <a:defRPr sz="1350" b="0">
                <a:solidFill>
                  <a:srgbClr val="5C707D"/>
                </a:solidFill>
              </a:defRPr>
            </a:defPPr>
          </a:lstStyle>
          <a:p>
            <a:pPr algn="l">
              <a:defRPr sz="1350" b="0">
                <a:solidFill>
                  <a:srgbClr val="5C707D"/>
                </a:solidFill>
              </a:defRPr>
            </a:pPr>
            <a:r>
              <a:rPr sz="1350" b="0">
                <a:solidFill>
                  <a:srgbClr val="5C707D"/>
                </a:solidFill>
              </a:rPr>
              <a:t>uses position data</a:t>
            </a:r>
          </a:p>
        </p:txBody>
      </p:sp>
      <p:sp>
        <p:nvSpPr>
          <p:cNvPr id="23" name="Rectangle: Rounded Corners 22">
            <a:extLst>
              <a:ext uri="{FF2B5EF4-FFF2-40B4-BE49-F238E27FC236}">
                <a16:creationId xmlns:a16="http://schemas.microsoft.com/office/drawing/2014/main" id="{C3A30000-A76D-4A59-98F7-2E15533DA769}"/>
              </a:ext>
            </a:extLst>
          </p:cNvPr>
          <p:cNvSpPr>
            <a:spLocks noGrp="1"/>
          </p:cNvSpPr>
          <p:nvPr/>
        </p:nvSpPr>
        <p:spPr>
          <a:xfrm>
            <a:off x="8991600" y="1838325"/>
            <a:ext cx="2476500" cy="3314700"/>
          </a:xfrm>
          <a:prstGeom prst="roundRect">
            <a:avLst>
              <a:gd name="adj" fmla="val 3077"/>
            </a:avLst>
          </a:prstGeom>
          <a:solidFill>
            <a:srgbClr val="0E7C86"/>
          </a:solidFill>
          <a:ln w="0">
            <a:noFill/>
            <a:prstDash val="solid"/>
          </a:ln>
        </p:spPr>
      </p:sp>
      <p:sp>
        <p:nvSpPr>
          <p:cNvPr id="24" name="Rectangle 23">
            <a:extLst>
              <a:ext uri="{FF2B5EF4-FFF2-40B4-BE49-F238E27FC236}">
                <a16:creationId xmlns:a16="http://schemas.microsoft.com/office/drawing/2014/main" id="{7EBE6C8B-579B-4836-9FB1-AD6BC439A434}"/>
              </a:ext>
            </a:extLst>
          </p:cNvPr>
          <p:cNvSpPr>
            <a:spLocks noGrp="1"/>
          </p:cNvSpPr>
          <p:nvPr/>
        </p:nvSpPr>
        <p:spPr>
          <a:xfrm>
            <a:off x="9239250" y="2095500"/>
            <a:ext cx="2000250" cy="285750"/>
          </a:xfrm>
          <a:prstGeom prst="rect">
            <a:avLst/>
          </a:prstGeom>
          <a:noFill/>
          <a:ln w="0">
            <a:noFill/>
            <a:prstDash val="solid"/>
          </a:ln>
        </p:spPr>
        <p:txBody>
          <a:bodyPr anchor="ctr"/>
          <a:lstStyle>
            <a:defPPr algn="ctr">
              <a:defRPr sz="1275" b="1">
                <a:solidFill>
                  <a:srgbClr val="BDE5E1"/>
                </a:solidFill>
              </a:defRPr>
            </a:defPPr>
          </a:lstStyle>
          <a:p>
            <a:pPr algn="ctr">
              <a:defRPr sz="1275" b="1">
                <a:solidFill>
                  <a:srgbClr val="BDE5E1"/>
                </a:solidFill>
              </a:defRPr>
            </a:pPr>
            <a:r>
              <a:rPr sz="1275" b="1">
                <a:solidFill>
                  <a:srgbClr val="BDE5E1"/>
                </a:solidFill>
              </a:rPr>
              <a:t>WHY IT HELPS</a:t>
            </a:r>
          </a:p>
        </p:txBody>
      </p:sp>
      <p:sp>
        <p:nvSpPr>
          <p:cNvPr id="25" name="Rectangle 24">
            <a:extLst>
              <a:ext uri="{FF2B5EF4-FFF2-40B4-BE49-F238E27FC236}">
                <a16:creationId xmlns:a16="http://schemas.microsoft.com/office/drawing/2014/main" id="{5F27354B-C36E-4CD6-AFA7-0F4295F76DD7}"/>
              </a:ext>
            </a:extLst>
          </p:cNvPr>
          <p:cNvSpPr>
            <a:spLocks noGrp="1"/>
          </p:cNvSpPr>
          <p:nvPr/>
        </p:nvSpPr>
        <p:spPr>
          <a:xfrm>
            <a:off x="9239250" y="2628900"/>
            <a:ext cx="1971675" cy="1238250"/>
          </a:xfrm>
          <a:prstGeom prst="rect">
            <a:avLst/>
          </a:prstGeom>
          <a:noFill/>
          <a:ln w="0">
            <a:noFill/>
            <a:prstDash val="solid"/>
          </a:ln>
        </p:spPr>
        <p:txBody>
          <a:bodyPr anchor="ctr"/>
          <a:lstStyle>
            <a:defPPr algn="ctr">
              <a:defRPr sz="2025" b="1">
                <a:solidFill>
                  <a:srgbClr val="FFFFFF"/>
                </a:solidFill>
              </a:defRPr>
            </a:defPPr>
          </a:lstStyle>
          <a:p>
            <a:pPr algn="ctr">
              <a:defRPr sz="2025" b="1">
                <a:solidFill>
                  <a:srgbClr val="FFFFFF"/>
                </a:solidFill>
              </a:defRPr>
            </a:pPr>
            <a:r>
              <a:rPr sz="2025" b="1">
                <a:solidFill>
                  <a:srgbClr val="FFFFFF"/>
                </a:solidFill>
              </a:rPr>
              <a:t>Only one bit changes between adjacent positions.</a:t>
            </a:r>
          </a:p>
        </p:txBody>
      </p:sp>
      <p:sp>
        <p:nvSpPr>
          <p:cNvPr id="26" name="Rectangle 25">
            <a:extLst>
              <a:ext uri="{FF2B5EF4-FFF2-40B4-BE49-F238E27FC236}">
                <a16:creationId xmlns:a16="http://schemas.microsoft.com/office/drawing/2014/main" id="{7BB59BE4-9B9B-4185-83AA-372BE1185D63}"/>
              </a:ext>
            </a:extLst>
          </p:cNvPr>
          <p:cNvSpPr>
            <a:spLocks noGrp="1"/>
          </p:cNvSpPr>
          <p:nvPr/>
        </p:nvSpPr>
        <p:spPr>
          <a:xfrm>
            <a:off x="9277350" y="4057650"/>
            <a:ext cx="1905000" cy="857250"/>
          </a:xfrm>
          <a:prstGeom prst="rect">
            <a:avLst/>
          </a:prstGeom>
          <a:noFill/>
          <a:ln w="0">
            <a:noFill/>
            <a:prstDash val="solid"/>
          </a:ln>
        </p:spPr>
        <p:txBody>
          <a:bodyPr anchor="ctr"/>
          <a:lstStyle>
            <a:defPPr algn="ctr">
              <a:defRPr sz="1350" b="0">
                <a:solidFill>
                  <a:srgbClr val="FFFFFF"/>
                </a:solidFill>
              </a:defRPr>
            </a:defPPr>
          </a:lstStyle>
          <a:p>
            <a:pPr algn="ctr">
              <a:defRPr sz="1350" b="0">
                <a:solidFill>
                  <a:srgbClr val="FFFFFF"/>
                </a:solidFill>
              </a:defRPr>
            </a:pPr>
            <a:r>
              <a:rPr sz="1350" b="0">
                <a:solidFill>
                  <a:srgbClr val="FFFFFF"/>
                </a:solidFill>
              </a:rPr>
              <a:t>Fewer simultaneous transitions can reduce ambiguous sensor readings.</a:t>
            </a:r>
          </a:p>
        </p:txBody>
      </p:sp>
    </p:spTree>
    <p:extLst>
      <p:ext uri="{BB962C8B-B14F-4D97-AF65-F5344CB8AC3E}">
        <p14:creationId xmlns:p14="http://schemas.microsoft.com/office/powerpoint/2010/main" val="2051209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EF574FC-703E-4026-AF54-290401946D4F}"/>
              </a:ext>
            </a:extLst>
          </p:cNvPr>
          <p:cNvSpPr>
            <a:spLocks noGrp="1"/>
          </p:cNvSpPr>
          <p:nvPr/>
        </p:nvSpPr>
        <p:spPr>
          <a:xfrm>
            <a:off x="0" y="0"/>
            <a:ext cx="12192000" cy="114300"/>
          </a:xfrm>
          <a:prstGeom prst="rect">
            <a:avLst/>
          </a:prstGeom>
          <a:solidFill>
            <a:srgbClr val="0E7C86"/>
          </a:solidFill>
          <a:ln w="0">
            <a:noFill/>
            <a:prstDash val="solid"/>
          </a:ln>
        </p:spPr>
      </p:sp>
      <p:sp>
        <p:nvSpPr>
          <p:cNvPr id="2" name="Rectangle 1">
            <a:extLst>
              <a:ext uri="{FF2B5EF4-FFF2-40B4-BE49-F238E27FC236}">
                <a16:creationId xmlns:a16="http://schemas.microsoft.com/office/drawing/2014/main" id="{29C2F148-3544-476E-96C7-C8F068DCD15C}"/>
              </a:ext>
            </a:extLst>
          </p:cNvPr>
          <p:cNvSpPr>
            <a:spLocks noGrp="1"/>
          </p:cNvSpPr>
          <p:nvPr/>
        </p:nvSpPr>
        <p:spPr>
          <a:xfrm>
            <a:off x="666750" y="342900"/>
            <a:ext cx="10477500" cy="647700"/>
          </a:xfrm>
          <a:prstGeom prst="rect">
            <a:avLst/>
          </a:prstGeom>
          <a:noFill/>
          <a:ln w="0">
            <a:noFill/>
            <a:prstDash val="solid"/>
          </a:ln>
        </p:spPr>
        <p:txBody>
          <a:bodyPr anchor="ctr"/>
          <a:lstStyle>
            <a:defPPr algn="l">
              <a:defRPr sz="2775" b="1">
                <a:solidFill>
                  <a:srgbClr val="142B3B"/>
                </a:solidFill>
              </a:defRPr>
            </a:defPPr>
          </a:lstStyle>
          <a:p>
            <a:pPr algn="l">
              <a:defRPr sz="2775" b="1">
                <a:solidFill>
                  <a:srgbClr val="142B3B"/>
                </a:solidFill>
              </a:defRPr>
            </a:pPr>
            <a:r>
              <a:rPr sz="2775" b="1">
                <a:solidFill>
                  <a:srgbClr val="142B3B"/>
                </a:solidFill>
              </a:rPr>
              <a:t>KEY TAKEAWAYS</a:t>
            </a:r>
          </a:p>
        </p:txBody>
      </p:sp>
      <p:sp>
        <p:nvSpPr>
          <p:cNvPr id="3" name="Straight Connector 2">
            <a:extLst>
              <a:ext uri="{FF2B5EF4-FFF2-40B4-BE49-F238E27FC236}">
                <a16:creationId xmlns:a16="http://schemas.microsoft.com/office/drawing/2014/main" id="{F9C88905-46BA-4C2D-8211-C33A5577540E}"/>
              </a:ext>
            </a:extLst>
          </p:cNvPr>
          <p:cNvSpPr>
            <a:spLocks noGrp="1"/>
          </p:cNvSpPr>
          <p:nvPr/>
        </p:nvSpPr>
        <p:spPr>
          <a:xfrm>
            <a:off x="666750" y="1066800"/>
            <a:ext cx="10858500" cy="0"/>
          </a:xfrm>
          <a:prstGeom prst="line">
            <a:avLst/>
          </a:prstGeom>
          <a:noFill/>
          <a:ln w="19050">
            <a:solidFill>
              <a:srgbClr val="CBD6D8"/>
            </a:solidFill>
            <a:prstDash val="solid"/>
          </a:ln>
        </p:spPr>
      </p:sp>
      <p:sp>
        <p:nvSpPr>
          <p:cNvPr id="4" name="Rectangle 3">
            <a:extLst>
              <a:ext uri="{FF2B5EF4-FFF2-40B4-BE49-F238E27FC236}">
                <a16:creationId xmlns:a16="http://schemas.microsoft.com/office/drawing/2014/main" id="{9E6EFC6E-9799-42BF-8956-2403E369E2FB}"/>
              </a:ext>
            </a:extLst>
          </p:cNvPr>
          <p:cNvSpPr>
            <a:spLocks noGrp="1"/>
          </p:cNvSpPr>
          <p:nvPr/>
        </p:nvSpPr>
        <p:spPr>
          <a:xfrm>
            <a:off x="666750" y="6457950"/>
            <a:ext cx="5715000" cy="190500"/>
          </a:xfrm>
          <a:prstGeom prst="rect">
            <a:avLst/>
          </a:prstGeom>
          <a:noFill/>
          <a:ln w="0">
            <a:noFill/>
            <a:prstDash val="solid"/>
          </a:ln>
        </p:spPr>
        <p:txBody>
          <a:bodyPr anchor="ctr"/>
          <a:lstStyle>
            <a:defPPr algn="l">
              <a:defRPr sz="975" b="1">
                <a:solidFill>
                  <a:srgbClr val="5C707D"/>
                </a:solidFill>
              </a:defRPr>
            </a:defPPr>
          </a:lstStyle>
          <a:p>
            <a:pPr algn="l">
              <a:defRPr sz="975" b="1">
                <a:solidFill>
                  <a:srgbClr val="5C707D"/>
                </a:solidFill>
              </a:defRPr>
            </a:pPr>
            <a:r>
              <a:rPr sz="975" b="1">
                <a:solidFill>
                  <a:srgbClr val="5C707D"/>
                </a:solidFill>
              </a:rPr>
              <a:t>DDCA  •  GRAY CODE TO BINARY</a:t>
            </a:r>
          </a:p>
        </p:txBody>
      </p:sp>
      <p:sp>
        <p:nvSpPr>
          <p:cNvPr id="5" name="Rectangle 4">
            <a:extLst>
              <a:ext uri="{FF2B5EF4-FFF2-40B4-BE49-F238E27FC236}">
                <a16:creationId xmlns:a16="http://schemas.microsoft.com/office/drawing/2014/main" id="{EBA7AF18-0920-4247-944E-30F4AB44C3CA}"/>
              </a:ext>
            </a:extLst>
          </p:cNvPr>
          <p:cNvSpPr>
            <a:spLocks noGrp="1"/>
          </p:cNvSpPr>
          <p:nvPr/>
        </p:nvSpPr>
        <p:spPr>
          <a:xfrm>
            <a:off x="8382000" y="6438900"/>
            <a:ext cx="3143250" cy="209550"/>
          </a:xfrm>
          <a:prstGeom prst="rect">
            <a:avLst/>
          </a:prstGeom>
          <a:noFill/>
          <a:ln w="0">
            <a:noFill/>
            <a:prstDash val="solid"/>
          </a:ln>
        </p:spPr>
        <p:txBody>
          <a:bodyPr anchor="ctr"/>
          <a:lstStyle>
            <a:defPPr algn="r">
              <a:defRPr sz="975" b="1">
                <a:solidFill>
                  <a:srgbClr val="5C707D"/>
                </a:solidFill>
              </a:defRPr>
            </a:defPPr>
          </a:lstStyle>
          <a:p>
            <a:pPr algn="r">
              <a:defRPr sz="975" b="1">
                <a:solidFill>
                  <a:srgbClr val="5C707D"/>
                </a:solidFill>
              </a:defRPr>
            </a:pPr>
            <a:r>
              <a:rPr sz="975" b="1">
                <a:solidFill>
                  <a:srgbClr val="5C707D"/>
                </a:solidFill>
              </a:rPr>
              <a:t>PRESENTER 4   |   11</a:t>
            </a:r>
          </a:p>
        </p:txBody>
      </p:sp>
      <p:sp>
        <p:nvSpPr>
          <p:cNvPr id="6" name="Rectangle 5">
            <a:extLst>
              <a:ext uri="{FF2B5EF4-FFF2-40B4-BE49-F238E27FC236}">
                <a16:creationId xmlns:a16="http://schemas.microsoft.com/office/drawing/2014/main" id="{F34D8E46-95CE-4746-BCC2-2A91AA6BF460}"/>
              </a:ext>
            </a:extLst>
          </p:cNvPr>
          <p:cNvSpPr>
            <a:spLocks noGrp="1"/>
          </p:cNvSpPr>
          <p:nvPr/>
        </p:nvSpPr>
        <p:spPr>
          <a:xfrm>
            <a:off x="723900" y="1323975"/>
            <a:ext cx="7620000" cy="323850"/>
          </a:xfrm>
          <a:prstGeom prst="rect">
            <a:avLst/>
          </a:prstGeom>
          <a:noFill/>
          <a:ln w="0">
            <a:noFill/>
            <a:prstDash val="solid"/>
          </a:ln>
        </p:spPr>
        <p:txBody>
          <a:bodyPr anchor="ctr"/>
          <a:lstStyle>
            <a:defPPr algn="l">
              <a:defRPr sz="1350" b="1">
                <a:solidFill>
                  <a:srgbClr val="0E7C86"/>
                </a:solidFill>
              </a:defRPr>
            </a:defPPr>
          </a:lstStyle>
          <a:p>
            <a:pPr algn="l">
              <a:defRPr sz="1350" b="1">
                <a:solidFill>
                  <a:srgbClr val="0E7C86"/>
                </a:solidFill>
              </a:defRPr>
            </a:pPr>
            <a:r>
              <a:rPr sz="1350" b="1">
                <a:solidFill>
                  <a:srgbClr val="0E7C86"/>
                </a:solidFill>
              </a:rPr>
              <a:t>THE PROJECT IN THREE IDEAS</a:t>
            </a:r>
          </a:p>
        </p:txBody>
      </p:sp>
      <p:sp>
        <p:nvSpPr>
          <p:cNvPr id="7" name="Oval 6">
            <a:extLst>
              <a:ext uri="{FF2B5EF4-FFF2-40B4-BE49-F238E27FC236}">
                <a16:creationId xmlns:a16="http://schemas.microsoft.com/office/drawing/2014/main" id="{4317F736-22E8-406F-B958-611CA78DBE55}"/>
              </a:ext>
            </a:extLst>
          </p:cNvPr>
          <p:cNvSpPr>
            <a:spLocks noGrp="1"/>
          </p:cNvSpPr>
          <p:nvPr/>
        </p:nvSpPr>
        <p:spPr>
          <a:xfrm>
            <a:off x="809625" y="2057400"/>
            <a:ext cx="647700" cy="647700"/>
          </a:xfrm>
          <a:prstGeom prst="ellipse">
            <a:avLst/>
          </a:prstGeom>
          <a:solidFill>
            <a:srgbClr val="0E7C86"/>
          </a:solidFill>
          <a:ln w="0">
            <a:noFill/>
            <a:prstDash val="solid"/>
          </a:ln>
        </p:spPr>
      </p:sp>
      <p:sp>
        <p:nvSpPr>
          <p:cNvPr id="8" name="Rectangle 7">
            <a:extLst>
              <a:ext uri="{FF2B5EF4-FFF2-40B4-BE49-F238E27FC236}">
                <a16:creationId xmlns:a16="http://schemas.microsoft.com/office/drawing/2014/main" id="{5D190227-315E-4EFB-9E9C-E5BB6FF1328B}"/>
              </a:ext>
            </a:extLst>
          </p:cNvPr>
          <p:cNvSpPr>
            <a:spLocks noGrp="1"/>
          </p:cNvSpPr>
          <p:nvPr/>
        </p:nvSpPr>
        <p:spPr>
          <a:xfrm>
            <a:off x="809625" y="2095500"/>
            <a:ext cx="647700" cy="552450"/>
          </a:xfrm>
          <a:prstGeom prst="rect">
            <a:avLst/>
          </a:prstGeom>
          <a:noFill/>
          <a:ln w="0">
            <a:noFill/>
            <a:prstDash val="solid"/>
          </a:ln>
        </p:spPr>
        <p:txBody>
          <a:bodyPr anchor="ctr"/>
          <a:lstStyle>
            <a:defPPr algn="ctr">
              <a:defRPr sz="1725" b="1">
                <a:solidFill>
                  <a:srgbClr val="FFFFFF"/>
                </a:solidFill>
              </a:defRPr>
            </a:defPPr>
          </a:lstStyle>
          <a:p>
            <a:pPr algn="ctr">
              <a:defRPr sz="1725" b="1">
                <a:solidFill>
                  <a:srgbClr val="FFFFFF"/>
                </a:solidFill>
              </a:defRPr>
            </a:pPr>
            <a:r>
              <a:rPr sz="1725" b="1">
                <a:solidFill>
                  <a:srgbClr val="FFFFFF"/>
                </a:solidFill>
              </a:rPr>
              <a:t>01</a:t>
            </a:r>
          </a:p>
        </p:txBody>
      </p:sp>
      <p:sp>
        <p:nvSpPr>
          <p:cNvPr id="9" name="Rectangle 8">
            <a:extLst>
              <a:ext uri="{FF2B5EF4-FFF2-40B4-BE49-F238E27FC236}">
                <a16:creationId xmlns:a16="http://schemas.microsoft.com/office/drawing/2014/main" id="{8416759B-4283-4E90-95A2-0D91D89A9636}"/>
              </a:ext>
            </a:extLst>
          </p:cNvPr>
          <p:cNvSpPr>
            <a:spLocks noGrp="1"/>
          </p:cNvSpPr>
          <p:nvPr/>
        </p:nvSpPr>
        <p:spPr>
          <a:xfrm>
            <a:off x="1838325" y="2124075"/>
            <a:ext cx="8763000" cy="533400"/>
          </a:xfrm>
          <a:prstGeom prst="rect">
            <a:avLst/>
          </a:prstGeom>
          <a:noFill/>
          <a:ln w="0">
            <a:noFill/>
            <a:prstDash val="solid"/>
          </a:ln>
        </p:spPr>
        <p:txBody>
          <a:bodyPr anchor="ctr"/>
          <a:lstStyle>
            <a:defPPr algn="l">
              <a:defRPr sz="1875" b="1">
                <a:solidFill>
                  <a:srgbClr val="142B3B"/>
                </a:solidFill>
              </a:defRPr>
            </a:defPPr>
          </a:lstStyle>
          <a:p>
            <a:pPr algn="l">
              <a:defRPr sz="1875" b="1">
                <a:solidFill>
                  <a:srgbClr val="142B3B"/>
                </a:solidFill>
              </a:defRPr>
            </a:pPr>
            <a:r>
              <a:rPr sz="1875" b="1">
                <a:solidFill>
                  <a:srgbClr val="142B3B"/>
                </a:solidFill>
              </a:rPr>
              <a:t>Gray code changes one bit between adjacent values.</a:t>
            </a:r>
          </a:p>
        </p:txBody>
      </p:sp>
      <p:sp>
        <p:nvSpPr>
          <p:cNvPr id="10" name="Oval 9">
            <a:extLst>
              <a:ext uri="{FF2B5EF4-FFF2-40B4-BE49-F238E27FC236}">
                <a16:creationId xmlns:a16="http://schemas.microsoft.com/office/drawing/2014/main" id="{9359018A-C2BE-4958-8779-D836D19E80F9}"/>
              </a:ext>
            </a:extLst>
          </p:cNvPr>
          <p:cNvSpPr>
            <a:spLocks noGrp="1"/>
          </p:cNvSpPr>
          <p:nvPr/>
        </p:nvSpPr>
        <p:spPr>
          <a:xfrm>
            <a:off x="809625" y="3190875"/>
            <a:ext cx="647700" cy="647700"/>
          </a:xfrm>
          <a:prstGeom prst="ellipse">
            <a:avLst/>
          </a:prstGeom>
          <a:solidFill>
            <a:srgbClr val="F2A65A"/>
          </a:solidFill>
          <a:ln w="0">
            <a:noFill/>
            <a:prstDash val="solid"/>
          </a:ln>
        </p:spPr>
      </p:sp>
      <p:sp>
        <p:nvSpPr>
          <p:cNvPr id="11" name="Rectangle 10">
            <a:extLst>
              <a:ext uri="{FF2B5EF4-FFF2-40B4-BE49-F238E27FC236}">
                <a16:creationId xmlns:a16="http://schemas.microsoft.com/office/drawing/2014/main" id="{1BB58D30-0BBC-44B6-86A1-964EC6356AEA}"/>
              </a:ext>
            </a:extLst>
          </p:cNvPr>
          <p:cNvSpPr>
            <a:spLocks noGrp="1"/>
          </p:cNvSpPr>
          <p:nvPr/>
        </p:nvSpPr>
        <p:spPr>
          <a:xfrm>
            <a:off x="809625" y="3228975"/>
            <a:ext cx="647700" cy="552450"/>
          </a:xfrm>
          <a:prstGeom prst="rect">
            <a:avLst/>
          </a:prstGeom>
          <a:noFill/>
          <a:ln w="0">
            <a:noFill/>
            <a:prstDash val="solid"/>
          </a:ln>
        </p:spPr>
        <p:txBody>
          <a:bodyPr anchor="ctr"/>
          <a:lstStyle>
            <a:defPPr algn="ctr">
              <a:defRPr sz="1725" b="1">
                <a:solidFill>
                  <a:srgbClr val="FFFFFF"/>
                </a:solidFill>
              </a:defRPr>
            </a:defPPr>
          </a:lstStyle>
          <a:p>
            <a:pPr algn="ctr">
              <a:defRPr sz="1725" b="1">
                <a:solidFill>
                  <a:srgbClr val="FFFFFF"/>
                </a:solidFill>
              </a:defRPr>
            </a:pPr>
            <a:r>
              <a:rPr sz="1725" b="1">
                <a:solidFill>
                  <a:srgbClr val="FFFFFF"/>
                </a:solidFill>
              </a:rPr>
              <a:t>02</a:t>
            </a:r>
          </a:p>
        </p:txBody>
      </p:sp>
      <p:sp>
        <p:nvSpPr>
          <p:cNvPr id="12" name="Rectangle 11">
            <a:extLst>
              <a:ext uri="{FF2B5EF4-FFF2-40B4-BE49-F238E27FC236}">
                <a16:creationId xmlns:a16="http://schemas.microsoft.com/office/drawing/2014/main" id="{DB2D7EEB-5BD8-4CEE-8F37-1D63B6E0134B}"/>
              </a:ext>
            </a:extLst>
          </p:cNvPr>
          <p:cNvSpPr>
            <a:spLocks noGrp="1"/>
          </p:cNvSpPr>
          <p:nvPr/>
        </p:nvSpPr>
        <p:spPr>
          <a:xfrm>
            <a:off x="1838325" y="3257550"/>
            <a:ext cx="8763000" cy="533400"/>
          </a:xfrm>
          <a:prstGeom prst="rect">
            <a:avLst/>
          </a:prstGeom>
          <a:noFill/>
          <a:ln w="0">
            <a:noFill/>
            <a:prstDash val="solid"/>
          </a:ln>
        </p:spPr>
        <p:txBody>
          <a:bodyPr anchor="ctr"/>
          <a:lstStyle>
            <a:defPPr algn="l">
              <a:defRPr sz="1875" b="1">
                <a:solidFill>
                  <a:srgbClr val="142B3B"/>
                </a:solidFill>
              </a:defRPr>
            </a:defPPr>
          </a:lstStyle>
          <a:p>
            <a:pPr algn="l">
              <a:defRPr sz="1875" b="1">
                <a:solidFill>
                  <a:srgbClr val="142B3B"/>
                </a:solidFill>
              </a:defRPr>
            </a:pPr>
            <a:r>
              <a:rPr sz="1875" b="1">
                <a:solidFill>
                  <a:srgbClr val="142B3B"/>
                </a:solidFill>
              </a:rPr>
              <a:t>Binary is recovered with a direct MSB connection and cascaded XOR.</a:t>
            </a:r>
          </a:p>
        </p:txBody>
      </p:sp>
      <p:sp>
        <p:nvSpPr>
          <p:cNvPr id="13" name="Oval 12">
            <a:extLst>
              <a:ext uri="{FF2B5EF4-FFF2-40B4-BE49-F238E27FC236}">
                <a16:creationId xmlns:a16="http://schemas.microsoft.com/office/drawing/2014/main" id="{58178BE3-E417-4FF4-873F-DCC0C0DD98A5}"/>
              </a:ext>
            </a:extLst>
          </p:cNvPr>
          <p:cNvSpPr>
            <a:spLocks noGrp="1"/>
          </p:cNvSpPr>
          <p:nvPr/>
        </p:nvSpPr>
        <p:spPr>
          <a:xfrm>
            <a:off x="809625" y="4324350"/>
            <a:ext cx="647700" cy="647700"/>
          </a:xfrm>
          <a:prstGeom prst="ellipse">
            <a:avLst/>
          </a:prstGeom>
          <a:solidFill>
            <a:srgbClr val="0E7C86"/>
          </a:solidFill>
          <a:ln w="0">
            <a:noFill/>
            <a:prstDash val="solid"/>
          </a:ln>
        </p:spPr>
      </p:sp>
      <p:sp>
        <p:nvSpPr>
          <p:cNvPr id="14" name="Rectangle 13">
            <a:extLst>
              <a:ext uri="{FF2B5EF4-FFF2-40B4-BE49-F238E27FC236}">
                <a16:creationId xmlns:a16="http://schemas.microsoft.com/office/drawing/2014/main" id="{A5A94B2A-5E71-4316-BF3A-CC7F3D2C512C}"/>
              </a:ext>
            </a:extLst>
          </p:cNvPr>
          <p:cNvSpPr>
            <a:spLocks noGrp="1"/>
          </p:cNvSpPr>
          <p:nvPr/>
        </p:nvSpPr>
        <p:spPr>
          <a:xfrm>
            <a:off x="809625" y="4362450"/>
            <a:ext cx="647700" cy="552450"/>
          </a:xfrm>
          <a:prstGeom prst="rect">
            <a:avLst/>
          </a:prstGeom>
          <a:noFill/>
          <a:ln w="0">
            <a:noFill/>
            <a:prstDash val="solid"/>
          </a:ln>
        </p:spPr>
        <p:txBody>
          <a:bodyPr anchor="ctr"/>
          <a:lstStyle>
            <a:defPPr algn="ctr">
              <a:defRPr sz="1725" b="1">
                <a:solidFill>
                  <a:srgbClr val="FFFFFF"/>
                </a:solidFill>
              </a:defRPr>
            </a:defPPr>
          </a:lstStyle>
          <a:p>
            <a:pPr algn="ctr">
              <a:defRPr sz="1725" b="1">
                <a:solidFill>
                  <a:srgbClr val="FFFFFF"/>
                </a:solidFill>
              </a:defRPr>
            </a:pPr>
            <a:r>
              <a:rPr sz="1725" b="1">
                <a:solidFill>
                  <a:srgbClr val="FFFFFF"/>
                </a:solidFill>
              </a:rPr>
              <a:t>03</a:t>
            </a:r>
          </a:p>
        </p:txBody>
      </p:sp>
      <p:sp>
        <p:nvSpPr>
          <p:cNvPr id="15" name="Rectangle 14">
            <a:extLst>
              <a:ext uri="{FF2B5EF4-FFF2-40B4-BE49-F238E27FC236}">
                <a16:creationId xmlns:a16="http://schemas.microsoft.com/office/drawing/2014/main" id="{6896B98A-EE03-4C91-9224-CE4656275B02}"/>
              </a:ext>
            </a:extLst>
          </p:cNvPr>
          <p:cNvSpPr>
            <a:spLocks noGrp="1"/>
          </p:cNvSpPr>
          <p:nvPr/>
        </p:nvSpPr>
        <p:spPr>
          <a:xfrm>
            <a:off x="1838325" y="4391025"/>
            <a:ext cx="8763000" cy="533400"/>
          </a:xfrm>
          <a:prstGeom prst="rect">
            <a:avLst/>
          </a:prstGeom>
          <a:noFill/>
          <a:ln w="0">
            <a:noFill/>
            <a:prstDash val="solid"/>
          </a:ln>
        </p:spPr>
        <p:txBody>
          <a:bodyPr anchor="ctr"/>
          <a:lstStyle>
            <a:defPPr algn="l">
              <a:defRPr sz="1875" b="1">
                <a:solidFill>
                  <a:srgbClr val="142B3B"/>
                </a:solidFill>
              </a:defRPr>
            </a:defPPr>
          </a:lstStyle>
          <a:p>
            <a:pPr algn="l">
              <a:defRPr sz="1875" b="1">
                <a:solidFill>
                  <a:srgbClr val="142B3B"/>
                </a:solidFill>
              </a:defRPr>
            </a:pPr>
            <a:r>
              <a:rPr sz="1875" b="1">
                <a:solidFill>
                  <a:srgbClr val="142B3B"/>
                </a:solidFill>
              </a:rPr>
              <a:t>Position systems can convert Gray readings into binary for processing.</a:t>
            </a:r>
          </a:p>
        </p:txBody>
      </p:sp>
    </p:spTree>
    <p:extLst>
      <p:ext uri="{BB962C8B-B14F-4D97-AF65-F5344CB8AC3E}">
        <p14:creationId xmlns:p14="http://schemas.microsoft.com/office/powerpoint/2010/main" val="585219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B3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285DCA-14F7-4F9B-89B8-D07C19BA9D82}"/>
              </a:ext>
            </a:extLst>
          </p:cNvPr>
          <p:cNvSpPr>
            <a:spLocks noGrp="1"/>
          </p:cNvSpPr>
          <p:nvPr/>
        </p:nvSpPr>
        <p:spPr>
          <a:xfrm>
            <a:off x="0" y="0"/>
            <a:ext cx="228600" cy="6858000"/>
          </a:xfrm>
          <a:prstGeom prst="rect">
            <a:avLst/>
          </a:prstGeom>
          <a:solidFill>
            <a:srgbClr val="F2A65A"/>
          </a:solidFill>
          <a:ln w="0">
            <a:noFill/>
            <a:prstDash val="solid"/>
          </a:ln>
        </p:spPr>
      </p:sp>
      <p:sp>
        <p:nvSpPr>
          <p:cNvPr id="2" name="Rectangle: Rounded Corners 1">
            <a:extLst>
              <a:ext uri="{FF2B5EF4-FFF2-40B4-BE49-F238E27FC236}">
                <a16:creationId xmlns:a16="http://schemas.microsoft.com/office/drawing/2014/main" id="{E4064982-FF32-4DF5-A43B-FCD0D26957B9}"/>
              </a:ext>
            </a:extLst>
          </p:cNvPr>
          <p:cNvSpPr>
            <a:spLocks noGrp="1"/>
          </p:cNvSpPr>
          <p:nvPr/>
        </p:nvSpPr>
        <p:spPr>
          <a:xfrm>
            <a:off x="762000" y="781050"/>
            <a:ext cx="2000250" cy="323850"/>
          </a:xfrm>
          <a:prstGeom prst="roundRect">
            <a:avLst>
              <a:gd name="adj" fmla="val 23529"/>
            </a:avLst>
          </a:prstGeom>
          <a:solidFill>
            <a:srgbClr val="0E7C86"/>
          </a:solidFill>
          <a:ln w="0">
            <a:noFill/>
            <a:prstDash val="solid"/>
          </a:ln>
        </p:spPr>
      </p:sp>
      <p:sp>
        <p:nvSpPr>
          <p:cNvPr id="3" name="Rectangle 2">
            <a:extLst>
              <a:ext uri="{FF2B5EF4-FFF2-40B4-BE49-F238E27FC236}">
                <a16:creationId xmlns:a16="http://schemas.microsoft.com/office/drawing/2014/main" id="{173B397D-4C67-43E5-9C03-6DAF7F16803E}"/>
              </a:ext>
            </a:extLst>
          </p:cNvPr>
          <p:cNvSpPr>
            <a:spLocks noGrp="1"/>
          </p:cNvSpPr>
          <p:nvPr/>
        </p:nvSpPr>
        <p:spPr>
          <a:xfrm>
            <a:off x="847725" y="800100"/>
            <a:ext cx="1828800" cy="285750"/>
          </a:xfrm>
          <a:prstGeom prst="rect">
            <a:avLst/>
          </a:prstGeom>
          <a:noFill/>
          <a:ln w="0">
            <a:noFill/>
            <a:prstDash val="solid"/>
          </a:ln>
        </p:spPr>
        <p:txBody>
          <a:bodyPr anchor="ctr"/>
          <a:lstStyle>
            <a:defPPr algn="ctr">
              <a:defRPr sz="1125" b="1">
                <a:solidFill>
                  <a:srgbClr val="FFFFFF"/>
                </a:solidFill>
              </a:defRPr>
            </a:defPPr>
          </a:lstStyle>
          <a:p>
            <a:pPr algn="ctr">
              <a:defRPr sz="1125" b="1">
                <a:solidFill>
                  <a:srgbClr val="FFFFFF"/>
                </a:solidFill>
              </a:defRPr>
            </a:pPr>
            <a:r>
              <a:rPr b="1" dirty="0">
                <a:solidFill>
                  <a:srgbClr val="FFFFFF"/>
                </a:solidFill>
              </a:rPr>
              <a:t>DDCA  •  SECTION 8</a:t>
            </a:r>
          </a:p>
        </p:txBody>
      </p:sp>
      <p:sp>
        <p:nvSpPr>
          <p:cNvPr id="4" name="Rectangle 3">
            <a:extLst>
              <a:ext uri="{FF2B5EF4-FFF2-40B4-BE49-F238E27FC236}">
                <a16:creationId xmlns:a16="http://schemas.microsoft.com/office/drawing/2014/main" id="{36B4D9F4-A24E-4EC6-B097-2B98F0A67901}"/>
              </a:ext>
            </a:extLst>
          </p:cNvPr>
          <p:cNvSpPr>
            <a:spLocks noGrp="1"/>
          </p:cNvSpPr>
          <p:nvPr/>
        </p:nvSpPr>
        <p:spPr>
          <a:xfrm>
            <a:off x="4052887" y="2338388"/>
            <a:ext cx="5810250" cy="1857375"/>
          </a:xfrm>
          <a:prstGeom prst="rect">
            <a:avLst/>
          </a:prstGeom>
          <a:noFill/>
          <a:ln w="0">
            <a:noFill/>
            <a:prstDash val="solid"/>
          </a:ln>
        </p:spPr>
        <p:txBody>
          <a:bodyPr anchor="ctr"/>
          <a:lstStyle>
            <a:defPPr algn="l">
              <a:defRPr sz="5400" b="1">
                <a:solidFill>
                  <a:srgbClr val="FFFFFF"/>
                </a:solidFill>
              </a:defRPr>
            </a:defPPr>
          </a:lstStyle>
          <a:p>
            <a:pPr algn="l">
              <a:defRPr sz="5400" b="1">
                <a:solidFill>
                  <a:srgbClr val="FFFFFF"/>
                </a:solidFill>
              </a:defRPr>
            </a:pPr>
            <a:r>
              <a:rPr sz="5400" b="1" dirty="0">
                <a:solidFill>
                  <a:srgbClr val="FFFFFF"/>
                </a:solidFill>
              </a:rPr>
              <a:t>THANK</a:t>
            </a:r>
            <a:r>
              <a:rPr lang="en-GB" sz="5400" b="1" dirty="0">
                <a:solidFill>
                  <a:srgbClr val="FFFFFF"/>
                </a:solidFill>
              </a:rPr>
              <a:t>  </a:t>
            </a:r>
            <a:r>
              <a:rPr sz="5400" b="1" dirty="0">
                <a:solidFill>
                  <a:srgbClr val="FFFFFF"/>
                </a:solidFill>
              </a:rPr>
              <a:t>YOU</a:t>
            </a:r>
          </a:p>
        </p:txBody>
      </p:sp>
      <p:sp>
        <p:nvSpPr>
          <p:cNvPr id="7" name="Straight Connector 6">
            <a:extLst>
              <a:ext uri="{FF2B5EF4-FFF2-40B4-BE49-F238E27FC236}">
                <a16:creationId xmlns:a16="http://schemas.microsoft.com/office/drawing/2014/main" id="{FD519BA2-78EF-4407-8633-F4E9C0D17E43}"/>
              </a:ext>
            </a:extLst>
          </p:cNvPr>
          <p:cNvSpPr>
            <a:spLocks noGrp="1"/>
          </p:cNvSpPr>
          <p:nvPr/>
        </p:nvSpPr>
        <p:spPr>
          <a:xfrm>
            <a:off x="819150" y="5429250"/>
            <a:ext cx="10191750" cy="0"/>
          </a:xfrm>
          <a:prstGeom prst="line">
            <a:avLst/>
          </a:prstGeom>
          <a:noFill/>
          <a:ln w="38100">
            <a:solidFill>
              <a:srgbClr val="FFFFFF"/>
            </a:solidFill>
            <a:prstDash val="solid"/>
          </a:ln>
        </p:spPr>
      </p:sp>
      <p:sp>
        <p:nvSpPr>
          <p:cNvPr id="8" name="Straight Connector 7">
            <a:extLst>
              <a:ext uri="{FF2B5EF4-FFF2-40B4-BE49-F238E27FC236}">
                <a16:creationId xmlns:a16="http://schemas.microsoft.com/office/drawing/2014/main" id="{AD8DAB8D-CDD4-4C0A-B090-F6B46B587F4D}"/>
              </a:ext>
            </a:extLst>
          </p:cNvPr>
          <p:cNvSpPr>
            <a:spLocks noGrp="1"/>
          </p:cNvSpPr>
          <p:nvPr/>
        </p:nvSpPr>
        <p:spPr>
          <a:xfrm>
            <a:off x="8715375" y="5429250"/>
            <a:ext cx="2295525" cy="0"/>
          </a:xfrm>
          <a:prstGeom prst="line">
            <a:avLst/>
          </a:prstGeom>
          <a:noFill/>
          <a:ln w="38100">
            <a:solidFill>
              <a:srgbClr val="F2A65A"/>
            </a:solidFill>
            <a:prstDash val="solid"/>
          </a:ln>
        </p:spPr>
      </p:sp>
    </p:spTree>
    <p:extLst>
      <p:ext uri="{BB962C8B-B14F-4D97-AF65-F5344CB8AC3E}">
        <p14:creationId xmlns:p14="http://schemas.microsoft.com/office/powerpoint/2010/main" val="15095312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1314</Words>
  <Application>Microsoft Office PowerPoint</Application>
  <DocSecurity>0</DocSecurity>
  <PresentationFormat>Widescreen</PresentationFormat>
  <Paragraphs>175</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Deekshitha I</cp:lastModifiedBy>
  <cp:revision>3</cp:revision>
  <dcterms:created xsi:type="dcterms:W3CDTF">2026-10-13T14:21:48Z</dcterms:created>
  <dcterms:modified xsi:type="dcterms:W3CDTF">2026-10-14T17:16:55Z</dcterms:modified>
</cp:coreProperties>
</file>